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3.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D33"/>
        </a:solidFill>
        <a:effectLst/>
      </p:bgPr>
    </p:bg>
    <p:spTree>
      <p:nvGrpSpPr>
        <p:cNvPr id="1" name=""/>
        <p:cNvGrpSpPr/>
        <p:nvPr/>
      </p:nvGrpSpPr>
      <p:grpSpPr>
        <a:xfrm>
          <a:off x="0" y="0"/>
          <a:ext cx="0" cy="0"/>
          <a:chOff x="0" y="0"/>
          <a:chExt cx="0" cy="0"/>
        </a:xfrm>
      </p:grpSpPr>
      <p:sp>
        <p:nvSpPr>
          <p:cNvPr id="2" name="Shape 0"/>
          <p:cNvSpPr/>
          <p:nvPr/>
        </p:nvSpPr>
        <p:spPr>
          <a:xfrm>
            <a:off x="9509760" y="-1828800"/>
            <a:ext cx="5669280" cy="5669280"/>
          </a:xfrm>
          <a:prstGeom prst="ellipse">
            <a:avLst/>
          </a:prstGeom>
          <a:solidFill>
            <a:srgbClr val="0B2A4A"/>
          </a:solidFill>
        </p:spPr>
        <p:txBody>
          <a:bodyPr/>
          <a:p/>
        </p:txBody>
      </p:sp>
      <p:sp>
        <p:nvSpPr>
          <p:cNvPr id="3" name="Shape 1"/>
          <p:cNvSpPr/>
          <p:nvPr/>
        </p:nvSpPr>
        <p:spPr>
          <a:xfrm>
            <a:off x="-2194560" y="4206240"/>
            <a:ext cx="4937760" cy="4937760"/>
          </a:xfrm>
          <a:prstGeom prst="ellipse">
            <a:avLst/>
          </a:prstGeom>
          <a:solidFill>
            <a:srgbClr val="0B2A4A"/>
          </a:solidFill>
        </p:spPr>
        <p:txBody>
          <a:bodyPr/>
          <a:p/>
        </p:txBody>
      </p:sp>
      <p:sp>
        <p:nvSpPr>
          <p:cNvPr id="4" name="Shape 2"/>
          <p:cNvSpPr/>
          <p:nvPr/>
        </p:nvSpPr>
        <p:spPr>
          <a:xfrm>
            <a:off x="566928" y="1417320"/>
            <a:ext cx="822960" cy="822960"/>
          </a:xfrm>
          <a:prstGeom prst="ellipse">
            <a:avLst/>
          </a:prstGeom>
          <a:solidFill>
            <a:srgbClr val="1C7293"/>
          </a:solidFill>
        </p:spPr>
        <p:txBody>
          <a:bodyPr/>
          <a:p/>
        </p:txBody>
      </p:sp>
      <p:pic>
        <p:nvPicPr>
          <p:cNvPr id="5" name="Image 0" descr="icons/wave.png"/>
          <p:cNvPicPr>
            <a:picLocks noChangeAspect="1"/>
          </p:cNvPicPr>
          <p:nvPr/>
        </p:nvPicPr>
        <p:blipFill>
          <a:blip r:embed="rId1"/>
          <a:stretch>
            <a:fillRect/>
          </a:stretch>
        </p:blipFill>
        <p:spPr>
          <a:xfrm>
            <a:off x="789127" y="1639519"/>
            <a:ext cx="378562" cy="378562"/>
          </a:xfrm>
          <a:prstGeom prst="rect">
            <a:avLst/>
          </a:prstGeom>
        </p:spPr>
      </p:pic>
      <p:sp>
        <p:nvSpPr>
          <p:cNvPr id="6" name="Text 3"/>
          <p:cNvSpPr/>
          <p:nvPr/>
        </p:nvSpPr>
        <p:spPr>
          <a:xfrm>
            <a:off x="566928" y="2514600"/>
            <a:ext cx="9144000" cy="365760"/>
          </a:xfrm>
          <a:prstGeom prst="rect">
            <a:avLst/>
          </a:prstGeom>
          <a:noFill/>
        </p:spPr>
        <p:txBody>
          <a:bodyPr wrap="square" lIns="0" tIns="0" rIns="0" bIns="0" rtlCol="0" anchor="ctr"/>
          <a:lstStyle/>
          <a:p>
            <a:pPr marL="0" indent="0">
              <a:buNone/>
            </a:pPr>
            <a:r>
              <a:rPr lang="en-US" sz="1400" b="1" kern="0" spc="200" dirty="0">
                <a:solidFill>
                  <a:srgbClr val="8FC1DA"/>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400" dirty="0"/>
          </a:p>
        </p:txBody>
      </p:sp>
      <p:sp>
        <p:nvSpPr>
          <p:cNvPr id="7" name="Text 4"/>
          <p:cNvSpPr/>
          <p:nvPr/>
        </p:nvSpPr>
        <p:spPr>
          <a:xfrm>
            <a:off x="566928" y="2880360"/>
            <a:ext cx="10515600" cy="1188720"/>
          </a:xfrm>
          <a:prstGeom prst="rect">
            <a:avLst/>
          </a:prstGeom>
          <a:noFill/>
        </p:spPr>
        <p:txBody>
          <a:bodyPr wrap="square" lIns="0" tIns="0" rIns="0" bIns="0" rtlCol="0" anchor="ctr"/>
          <a:lstStyle/>
          <a:p>
            <a:pPr marL="0" indent="0">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Preprocessing Pipeline</a:t>
            </a:r>
            <a:endParaRPr lang="en-US" sz="4400" dirty="0"/>
          </a:p>
        </p:txBody>
      </p:sp>
      <p:sp>
        <p:nvSpPr>
          <p:cNvPr id="8" name="Text 5"/>
          <p:cNvSpPr/>
          <p:nvPr/>
        </p:nvSpPr>
        <p:spPr>
          <a:xfrm>
            <a:off x="566928" y="3977640"/>
            <a:ext cx="8503920" cy="731520"/>
          </a:xfrm>
          <a:prstGeom prst="rect">
            <a:avLst/>
          </a:prstGeom>
          <a:noFill/>
        </p:spPr>
        <p:txBody>
          <a:bodyPr wrap="square" lIns="0" tIns="0" rIns="0" bIns="0" rtlCol="0" anchor="ctr"/>
          <a:lstStyle/>
          <a:p>
            <a:pPr marL="0" indent="0">
              <a:lnSpc>
                <a:spcPct val="125000"/>
              </a:lnSpc>
              <a:buNone/>
            </a:pPr>
            <a:r>
              <a:rPr lang="en-US" sz="1600" dirty="0">
                <a:solidFill>
                  <a:srgbClr val="C8D8E4"/>
                </a:solidFill>
                <a:latin typeface="Calibri" panose="020F0502020204030204" pitchFamily="34" charset="0"/>
                <a:ea typeface="Calibri" panose="020F0502020204030204" pitchFamily="34" charset="-122"/>
                <a:cs typeface="Calibri" panose="020F0502020204030204" pitchFamily="34" charset="-120"/>
              </a:rPr>
              <a:t>How a messy, multi-hospital collection of ultrasound scans was cleaned, de-identified, and labeled into one training-ready dataset.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DATA SOURCE 1 OF 2</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Gulab Devi Hospital</a:t>
            </a:r>
            <a:endParaRPr lang="en-US" sz="3000" dirty="0"/>
          </a:p>
        </p:txBody>
      </p:sp>
      <p:sp>
        <p:nvSpPr>
          <p:cNvPr id="4" name="Text 2"/>
          <p:cNvSpPr/>
          <p:nvPr/>
        </p:nvSpPr>
        <p:spPr>
          <a:xfrm>
            <a:off x="566928" y="1600200"/>
            <a:ext cx="5029200" cy="2926080"/>
          </a:xfrm>
          <a:prstGeom prst="rect">
            <a:avLst/>
          </a:prstGeom>
          <a:noFill/>
        </p:spPr>
        <p:txBody>
          <a:bodyPr wrap="square" lIns="0" tIns="0" rIns="0" bIns="0" rtlCol="0" anchor="t"/>
          <a:lstStyle/>
          <a:p>
            <a:pPr marL="228600" indent="-228600">
              <a:lnSpc>
                <a:spcPct val="115000"/>
              </a:lnSpc>
              <a:spcAft>
                <a:spcPts val="14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Images were organized by date and by patient — not by diagnosis.</a:t>
            </a:r>
            <a:endParaRPr lang="en-US" sz="1450" dirty="0"/>
          </a:p>
          <a:p>
            <a:pPr marL="228600" indent="-228600">
              <a:lnSpc>
                <a:spcPct val="115000"/>
              </a:lnSpc>
              <a:spcAft>
                <a:spcPts val="14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The folders contain a mix of single-pane and dual-pane ultrasound images.</a:t>
            </a:r>
            <a:endParaRPr lang="en-US" sz="1450" dirty="0"/>
          </a:p>
        </p:txBody>
      </p:sp>
      <p:sp>
        <p:nvSpPr>
          <p:cNvPr id="5" name="Shape 3"/>
          <p:cNvSpPr/>
          <p:nvPr/>
        </p:nvSpPr>
        <p:spPr>
          <a:xfrm>
            <a:off x="6446520" y="1463040"/>
            <a:ext cx="5166360" cy="4343400"/>
          </a:xfrm>
          <a:prstGeom prst="roundRect">
            <a:avLst>
              <a:gd name="adj" fmla="val 1895"/>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6" name="Image 0" descr="unpacked/ppt/media/image1.png"/>
          <p:cNvPicPr>
            <a:picLocks noChangeAspect="1"/>
          </p:cNvPicPr>
          <p:nvPr/>
        </p:nvPicPr>
        <p:blipFill>
          <a:blip r:embed="rId1"/>
          <a:stretch>
            <a:fillRect/>
          </a:stretch>
        </p:blipFill>
        <p:spPr>
          <a:xfrm>
            <a:off x="6603492" y="1609344"/>
            <a:ext cx="4852416" cy="3639312"/>
          </a:xfrm>
          <a:prstGeom prst="rect">
            <a:avLst/>
          </a:prstGeom>
        </p:spPr>
      </p:pic>
      <p:sp>
        <p:nvSpPr>
          <p:cNvPr id="7" name="Text 4"/>
          <p:cNvSpPr/>
          <p:nvPr/>
        </p:nvSpPr>
        <p:spPr>
          <a:xfrm>
            <a:off x="6446520" y="5440680"/>
            <a:ext cx="5166360" cy="320040"/>
          </a:xfrm>
          <a:prstGeom prst="rect">
            <a:avLst/>
          </a:prstGeom>
          <a:noFill/>
        </p:spPr>
        <p:txBody>
          <a:bodyPr wrap="square" lIns="0" tIns="0" rIns="0" bIns="0" rtlCol="0" anchor="ctr"/>
          <a:lstStyle/>
          <a:p>
            <a:pPr marL="0" indent="0" algn="ctr">
              <a:buNone/>
            </a:pPr>
            <a:r>
              <a:rPr lang="en-US" sz="1100" i="1" dirty="0">
                <a:solidFill>
                  <a:srgbClr val="60707E"/>
                </a:solidFill>
                <a:latin typeface="Calibri" panose="020F0502020204030204" pitchFamily="34" charset="0"/>
                <a:ea typeface="Calibri" panose="020F0502020204030204" pitchFamily="34" charset="-122"/>
                <a:cs typeface="Calibri" panose="020F0502020204030204" pitchFamily="34" charset="-120"/>
              </a:rPr>
              <a:t>Example scan — Gulab Devi dataset</a:t>
            </a:r>
            <a:endParaRPr lang="en-US" sz="1100" dirty="0"/>
          </a:p>
        </p:txBody>
      </p:sp>
      <p:sp>
        <p:nvSpPr>
          <p:cNvPr id="8" name="Text 5"/>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9" name="Text 6"/>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02 / 42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DATA SOURCE 2 OF 2</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Chughtai Lab</a:t>
            </a:r>
            <a:endParaRPr lang="en-US" sz="3000" dirty="0"/>
          </a:p>
        </p:txBody>
      </p:sp>
      <p:sp>
        <p:nvSpPr>
          <p:cNvPr id="4" name="Text 2"/>
          <p:cNvSpPr/>
          <p:nvPr/>
        </p:nvSpPr>
        <p:spPr>
          <a:xfrm>
            <a:off x="566928" y="1600200"/>
            <a:ext cx="5029200" cy="2926080"/>
          </a:xfrm>
          <a:prstGeom prst="rect">
            <a:avLst/>
          </a:prstGeom>
          <a:noFill/>
        </p:spPr>
        <p:txBody>
          <a:bodyPr wrap="square" lIns="0" tIns="0" rIns="0" bIns="0" rtlCol="0" anchor="t"/>
          <a:lstStyle/>
          <a:p>
            <a:pPr marL="228600" indent="-228600">
              <a:lnSpc>
                <a:spcPct val="115000"/>
              </a:lnSpc>
              <a:spcAft>
                <a:spcPts val="14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Already sorted by diagnosis into two folders: "GB Normal" and "GB Stones".</a:t>
            </a:r>
            <a:endParaRPr lang="en-US" sz="1450" dirty="0"/>
          </a:p>
          <a:p>
            <a:pPr marL="228600" indent="-228600">
              <a:lnSpc>
                <a:spcPct val="115000"/>
              </a:lnSpc>
              <a:spcAft>
                <a:spcPts val="14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This machine always outputs dual-pane images.</a:t>
            </a:r>
            <a:endParaRPr lang="en-US" sz="1450" dirty="0"/>
          </a:p>
        </p:txBody>
      </p:sp>
      <p:sp>
        <p:nvSpPr>
          <p:cNvPr id="5" name="Shape 3"/>
          <p:cNvSpPr/>
          <p:nvPr/>
        </p:nvSpPr>
        <p:spPr>
          <a:xfrm>
            <a:off x="6446520" y="1463040"/>
            <a:ext cx="5166360" cy="4343400"/>
          </a:xfrm>
          <a:prstGeom prst="roundRect">
            <a:avLst>
              <a:gd name="adj" fmla="val 1895"/>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6" name="Image 0" descr="unpacked/ppt/media/image2.png"/>
          <p:cNvPicPr>
            <a:picLocks noChangeAspect="1"/>
          </p:cNvPicPr>
          <p:nvPr/>
        </p:nvPicPr>
        <p:blipFill>
          <a:blip r:embed="rId1"/>
          <a:stretch>
            <a:fillRect/>
          </a:stretch>
        </p:blipFill>
        <p:spPr>
          <a:xfrm>
            <a:off x="6603492" y="1609344"/>
            <a:ext cx="4852416" cy="3639312"/>
          </a:xfrm>
          <a:prstGeom prst="rect">
            <a:avLst/>
          </a:prstGeom>
        </p:spPr>
      </p:pic>
      <p:sp>
        <p:nvSpPr>
          <p:cNvPr id="7" name="Text 4"/>
          <p:cNvSpPr/>
          <p:nvPr/>
        </p:nvSpPr>
        <p:spPr>
          <a:xfrm>
            <a:off x="6446520" y="5440680"/>
            <a:ext cx="5166360" cy="320040"/>
          </a:xfrm>
          <a:prstGeom prst="rect">
            <a:avLst/>
          </a:prstGeom>
          <a:noFill/>
        </p:spPr>
        <p:txBody>
          <a:bodyPr wrap="square" lIns="0" tIns="0" rIns="0" bIns="0" rtlCol="0" anchor="ctr"/>
          <a:lstStyle/>
          <a:p>
            <a:pPr marL="0" indent="0" algn="ctr">
              <a:buNone/>
            </a:pPr>
            <a:r>
              <a:rPr lang="en-US" sz="1100" i="1" dirty="0">
                <a:solidFill>
                  <a:srgbClr val="60707E"/>
                </a:solidFill>
                <a:latin typeface="Calibri" panose="020F0502020204030204" pitchFamily="34" charset="0"/>
                <a:ea typeface="Calibri" panose="020F0502020204030204" pitchFamily="34" charset="-122"/>
                <a:cs typeface="Calibri" panose="020F0502020204030204" pitchFamily="34" charset="-120"/>
              </a:rPr>
              <a:t>Example scan — Chughtai dataset</a:t>
            </a:r>
            <a:endParaRPr lang="en-US" sz="1100" dirty="0"/>
          </a:p>
        </p:txBody>
      </p:sp>
      <p:sp>
        <p:nvSpPr>
          <p:cNvPr id="8" name="Text 5"/>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9" name="Text 6"/>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03 / 42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BEFORE CLEANING</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Three Problems With the Raw Data</a:t>
            </a:r>
            <a:endParaRPr lang="en-US" sz="3000" dirty="0"/>
          </a:p>
        </p:txBody>
      </p:sp>
      <p:sp>
        <p:nvSpPr>
          <p:cNvPr id="4" name="Shape 2"/>
          <p:cNvSpPr/>
          <p:nvPr/>
        </p:nvSpPr>
        <p:spPr>
          <a:xfrm>
            <a:off x="566928" y="1828800"/>
            <a:ext cx="3401568" cy="3977640"/>
          </a:xfrm>
          <a:prstGeom prst="roundRect">
            <a:avLst>
              <a:gd name="adj" fmla="val 2419"/>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5" name="Shape 3"/>
          <p:cNvSpPr/>
          <p:nvPr/>
        </p:nvSpPr>
        <p:spPr>
          <a:xfrm>
            <a:off x="859536" y="2176272"/>
            <a:ext cx="658368" cy="658368"/>
          </a:xfrm>
          <a:prstGeom prst="ellipse">
            <a:avLst/>
          </a:prstGeom>
          <a:solidFill>
            <a:srgbClr val="1C7293"/>
          </a:solidFill>
        </p:spPr>
        <p:txBody>
          <a:bodyPr/>
          <a:p/>
        </p:txBody>
      </p:sp>
      <p:pic>
        <p:nvPicPr>
          <p:cNvPr id="6" name="Image 0" descr="icons/warning.png"/>
          <p:cNvPicPr>
            <a:picLocks noChangeAspect="1"/>
          </p:cNvPicPr>
          <p:nvPr/>
        </p:nvPicPr>
        <p:blipFill>
          <a:blip r:embed="rId1"/>
          <a:stretch>
            <a:fillRect/>
          </a:stretch>
        </p:blipFill>
        <p:spPr>
          <a:xfrm>
            <a:off x="1037295" y="2354031"/>
            <a:ext cx="302849" cy="302849"/>
          </a:xfrm>
          <a:prstGeom prst="rect">
            <a:avLst/>
          </a:prstGeom>
        </p:spPr>
      </p:pic>
      <p:sp>
        <p:nvSpPr>
          <p:cNvPr id="7" name="Text 4"/>
          <p:cNvSpPr/>
          <p:nvPr/>
        </p:nvSpPr>
        <p:spPr>
          <a:xfrm>
            <a:off x="859536" y="2999232"/>
            <a:ext cx="2816352" cy="54864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Wrong Organs</a:t>
            </a:r>
            <a:endParaRPr lang="en-US" sz="1650" dirty="0"/>
          </a:p>
        </p:txBody>
      </p:sp>
      <p:sp>
        <p:nvSpPr>
          <p:cNvPr id="8" name="Text 5"/>
          <p:cNvSpPr/>
          <p:nvPr/>
        </p:nvSpPr>
        <p:spPr>
          <a:xfrm>
            <a:off x="859536" y="3566160"/>
            <a:ext cx="2816352" cy="1965960"/>
          </a:xfrm>
          <a:prstGeom prst="rect">
            <a:avLst/>
          </a:prstGeom>
          <a:noFill/>
        </p:spPr>
        <p:txBody>
          <a:bodyPr wrap="square" lIns="0" tIns="0" rIns="0" bIns="0" rtlCol="0" anchor="ctr"/>
          <a:lstStyle/>
          <a:p>
            <a:pPr marL="0" indent="0">
              <a:lnSpc>
                <a:spcPct val="120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Images covered kidney, liver, spleen, bladder, and gallbladder. Only a minority actually show a gallbladder — the rest are unusable.</a:t>
            </a:r>
            <a:endParaRPr lang="en-US" sz="1450" dirty="0"/>
          </a:p>
        </p:txBody>
      </p:sp>
      <p:sp>
        <p:nvSpPr>
          <p:cNvPr id="9" name="Shape 6"/>
          <p:cNvSpPr/>
          <p:nvPr/>
        </p:nvSpPr>
        <p:spPr>
          <a:xfrm>
            <a:off x="4224528" y="1828800"/>
            <a:ext cx="3401568" cy="3977640"/>
          </a:xfrm>
          <a:prstGeom prst="roundRect">
            <a:avLst>
              <a:gd name="adj" fmla="val 2419"/>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0" name="Shape 7"/>
          <p:cNvSpPr/>
          <p:nvPr/>
        </p:nvSpPr>
        <p:spPr>
          <a:xfrm>
            <a:off x="4517136" y="2176272"/>
            <a:ext cx="658368" cy="658368"/>
          </a:xfrm>
          <a:prstGeom prst="ellipse">
            <a:avLst/>
          </a:prstGeom>
          <a:solidFill>
            <a:srgbClr val="1C7293"/>
          </a:solidFill>
        </p:spPr>
        <p:txBody>
          <a:bodyPr/>
          <a:p/>
        </p:txBody>
      </p:sp>
      <p:pic>
        <p:nvPicPr>
          <p:cNvPr id="11" name="Image 1" descr="icons/idcard.png"/>
          <p:cNvPicPr>
            <a:picLocks noChangeAspect="1"/>
          </p:cNvPicPr>
          <p:nvPr/>
        </p:nvPicPr>
        <p:blipFill>
          <a:blip r:embed="rId2"/>
          <a:stretch>
            <a:fillRect/>
          </a:stretch>
        </p:blipFill>
        <p:spPr>
          <a:xfrm>
            <a:off x="4694895" y="2354031"/>
            <a:ext cx="302849" cy="302849"/>
          </a:xfrm>
          <a:prstGeom prst="rect">
            <a:avLst/>
          </a:prstGeom>
        </p:spPr>
      </p:pic>
      <p:sp>
        <p:nvSpPr>
          <p:cNvPr id="12" name="Text 8"/>
          <p:cNvSpPr/>
          <p:nvPr/>
        </p:nvSpPr>
        <p:spPr>
          <a:xfrm>
            <a:off x="4517136" y="2999232"/>
            <a:ext cx="2816352" cy="54864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Burned-In Identifiers</a:t>
            </a:r>
            <a:endParaRPr lang="en-US" sz="1650" dirty="0"/>
          </a:p>
        </p:txBody>
      </p:sp>
      <p:sp>
        <p:nvSpPr>
          <p:cNvPr id="13" name="Text 9"/>
          <p:cNvSpPr/>
          <p:nvPr/>
        </p:nvSpPr>
        <p:spPr>
          <a:xfrm>
            <a:off x="4517136" y="3566160"/>
            <a:ext cx="2816352" cy="1965960"/>
          </a:xfrm>
          <a:prstGeom prst="rect">
            <a:avLst/>
          </a:prstGeom>
          <a:noFill/>
        </p:spPr>
        <p:txBody>
          <a:bodyPr wrap="square" lIns="0" tIns="0" rIns="0" bIns="0" rtlCol="0" anchor="ctr"/>
          <a:lstStyle/>
          <a:p>
            <a:pPr marL="0" indent="0">
              <a:lnSpc>
                <a:spcPct val="120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Every image had patient information and caliper markings burned directly into the pixels.</a:t>
            </a:r>
            <a:endParaRPr lang="en-US" sz="1450" dirty="0"/>
          </a:p>
        </p:txBody>
      </p:sp>
      <p:sp>
        <p:nvSpPr>
          <p:cNvPr id="14" name="Shape 10"/>
          <p:cNvSpPr/>
          <p:nvPr/>
        </p:nvSpPr>
        <p:spPr>
          <a:xfrm>
            <a:off x="7882128" y="1828800"/>
            <a:ext cx="3401568" cy="3977640"/>
          </a:xfrm>
          <a:prstGeom prst="roundRect">
            <a:avLst>
              <a:gd name="adj" fmla="val 2419"/>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5" name="Shape 11"/>
          <p:cNvSpPr/>
          <p:nvPr/>
        </p:nvSpPr>
        <p:spPr>
          <a:xfrm>
            <a:off x="8174736" y="2176272"/>
            <a:ext cx="658368" cy="658368"/>
          </a:xfrm>
          <a:prstGeom prst="ellipse">
            <a:avLst/>
          </a:prstGeom>
          <a:solidFill>
            <a:srgbClr val="1C7293"/>
          </a:solidFill>
        </p:spPr>
        <p:txBody>
          <a:bodyPr/>
          <a:p/>
        </p:txBody>
      </p:sp>
      <p:pic>
        <p:nvPicPr>
          <p:cNvPr id="16" name="Image 2" descr="icons/file.png"/>
          <p:cNvPicPr>
            <a:picLocks noChangeAspect="1"/>
          </p:cNvPicPr>
          <p:nvPr/>
        </p:nvPicPr>
        <p:blipFill>
          <a:blip r:embed="rId3"/>
          <a:stretch>
            <a:fillRect/>
          </a:stretch>
        </p:blipFill>
        <p:spPr>
          <a:xfrm>
            <a:off x="8352495" y="2354031"/>
            <a:ext cx="302849" cy="302849"/>
          </a:xfrm>
          <a:prstGeom prst="rect">
            <a:avLst/>
          </a:prstGeom>
        </p:spPr>
      </p:pic>
      <p:sp>
        <p:nvSpPr>
          <p:cNvPr id="17" name="Text 12"/>
          <p:cNvSpPr/>
          <p:nvPr/>
        </p:nvSpPr>
        <p:spPr>
          <a:xfrm>
            <a:off x="8174736" y="2999232"/>
            <a:ext cx="2816352" cy="54864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Inconsistent Files</a:t>
            </a:r>
            <a:endParaRPr lang="en-US" sz="1650" dirty="0"/>
          </a:p>
        </p:txBody>
      </p:sp>
      <p:sp>
        <p:nvSpPr>
          <p:cNvPr id="18" name="Text 13"/>
          <p:cNvSpPr/>
          <p:nvPr/>
        </p:nvSpPr>
        <p:spPr>
          <a:xfrm>
            <a:off x="8174736" y="3566160"/>
            <a:ext cx="2816352" cy="1965960"/>
          </a:xfrm>
          <a:prstGeom prst="rect">
            <a:avLst/>
          </a:prstGeom>
          <a:noFill/>
        </p:spPr>
        <p:txBody>
          <a:bodyPr wrap="square" lIns="0" tIns="0" rIns="0" bIns="0" rtlCol="0" anchor="ctr"/>
          <a:lstStyle/>
          <a:p>
            <a:pPr marL="0" indent="0">
              <a:lnSpc>
                <a:spcPct val="120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Raw BMP and TIFF files at inconsistent sizes, with no consistent naming.</a:t>
            </a:r>
            <a:endParaRPr lang="en-US" sz="1450" dirty="0"/>
          </a:p>
        </p:txBody>
      </p:sp>
      <p:sp>
        <p:nvSpPr>
          <p:cNvPr id="19" name="Text 14"/>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20" name="Text 15"/>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04 / 42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GETTING TO GROUND TRUTH</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The Labelling Problem</a:t>
            </a:r>
            <a:endParaRPr lang="en-US" sz="3000" dirty="0"/>
          </a:p>
        </p:txBody>
      </p:sp>
      <p:sp>
        <p:nvSpPr>
          <p:cNvPr id="4" name="Shape 2"/>
          <p:cNvSpPr/>
          <p:nvPr/>
        </p:nvSpPr>
        <p:spPr>
          <a:xfrm>
            <a:off x="566928" y="1691640"/>
            <a:ext cx="5138928" cy="3246120"/>
          </a:xfrm>
          <a:prstGeom prst="roundRect">
            <a:avLst>
              <a:gd name="adj" fmla="val 2535"/>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5" name="Shape 3"/>
          <p:cNvSpPr/>
          <p:nvPr/>
        </p:nvSpPr>
        <p:spPr>
          <a:xfrm>
            <a:off x="841248" y="1984248"/>
            <a:ext cx="566928" cy="566928"/>
          </a:xfrm>
          <a:prstGeom prst="ellipse">
            <a:avLst/>
          </a:prstGeom>
          <a:solidFill>
            <a:srgbClr val="1C7293"/>
          </a:solidFill>
        </p:spPr>
        <p:txBody>
          <a:bodyPr/>
          <a:p/>
        </p:txBody>
      </p:sp>
      <p:pic>
        <p:nvPicPr>
          <p:cNvPr id="6" name="Image 0" descr="icons/check.png"/>
          <p:cNvPicPr>
            <a:picLocks noChangeAspect="1"/>
          </p:cNvPicPr>
          <p:nvPr/>
        </p:nvPicPr>
        <p:blipFill>
          <a:blip r:embed="rId1"/>
          <a:stretch>
            <a:fillRect/>
          </a:stretch>
        </p:blipFill>
        <p:spPr>
          <a:xfrm>
            <a:off x="994319" y="2137319"/>
            <a:ext cx="260787" cy="260787"/>
          </a:xfrm>
          <a:prstGeom prst="rect">
            <a:avLst/>
          </a:prstGeom>
        </p:spPr>
      </p:pic>
      <p:sp>
        <p:nvSpPr>
          <p:cNvPr id="7" name="Text 4"/>
          <p:cNvSpPr/>
          <p:nvPr/>
        </p:nvSpPr>
        <p:spPr>
          <a:xfrm>
            <a:off x="1572768" y="2020824"/>
            <a:ext cx="3858768" cy="50292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Chughtai Lab</a:t>
            </a:r>
            <a:endParaRPr lang="en-US" sz="1650" dirty="0"/>
          </a:p>
        </p:txBody>
      </p:sp>
      <p:sp>
        <p:nvSpPr>
          <p:cNvPr id="8" name="Text 5"/>
          <p:cNvSpPr/>
          <p:nvPr/>
        </p:nvSpPr>
        <p:spPr>
          <a:xfrm>
            <a:off x="841248" y="2743200"/>
            <a:ext cx="4590288" cy="2057400"/>
          </a:xfrm>
          <a:prstGeom prst="rect">
            <a:avLst/>
          </a:prstGeom>
          <a:noFill/>
        </p:spPr>
        <p:txBody>
          <a:bodyPr wrap="square" lIns="0" tIns="0" rIns="0" bIns="0" rtlCol="0" anchor="t"/>
          <a:lstStyle/>
          <a:p>
            <a:pPr marL="228600" indent="-228600">
              <a:lnSpc>
                <a:spcPct val="115000"/>
              </a:lnSpc>
              <a:spcAft>
                <a:spcPts val="1000"/>
              </a:spcAft>
              <a:buSzPct val="100000"/>
              <a:buChar char="●"/>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Already sorted into "Gallbladder Stones" and "Normal" folders.</a:t>
            </a:r>
            <a:endParaRPr lang="en-US" sz="1350" dirty="0"/>
          </a:p>
          <a:p>
            <a:pPr marL="228600" indent="-228600">
              <a:lnSpc>
                <a:spcPct val="115000"/>
              </a:lnSpc>
              <a:spcAft>
                <a:spcPts val="1000"/>
              </a:spcAft>
              <a:buSzPct val="100000"/>
              <a:buChar char="●"/>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No additional labelling work was required.</a:t>
            </a:r>
            <a:endParaRPr lang="en-US" sz="1350" dirty="0"/>
          </a:p>
        </p:txBody>
      </p:sp>
      <p:sp>
        <p:nvSpPr>
          <p:cNvPr id="9" name="Shape 6"/>
          <p:cNvSpPr/>
          <p:nvPr/>
        </p:nvSpPr>
        <p:spPr>
          <a:xfrm>
            <a:off x="5980176" y="1691640"/>
            <a:ext cx="5138928" cy="3246120"/>
          </a:xfrm>
          <a:prstGeom prst="roundRect">
            <a:avLst>
              <a:gd name="adj" fmla="val 2535"/>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0" name="Shape 7"/>
          <p:cNvSpPr/>
          <p:nvPr/>
        </p:nvSpPr>
        <p:spPr>
          <a:xfrm>
            <a:off x="6254496" y="1984248"/>
            <a:ext cx="566928" cy="566928"/>
          </a:xfrm>
          <a:prstGeom prst="ellipse">
            <a:avLst/>
          </a:prstGeom>
          <a:solidFill>
            <a:srgbClr val="1C7293"/>
          </a:solidFill>
        </p:spPr>
        <p:txBody>
          <a:bodyPr/>
          <a:p/>
        </p:txBody>
      </p:sp>
      <p:pic>
        <p:nvPicPr>
          <p:cNvPr id="11" name="Image 1" descr="icons/question.png"/>
          <p:cNvPicPr>
            <a:picLocks noChangeAspect="1"/>
          </p:cNvPicPr>
          <p:nvPr/>
        </p:nvPicPr>
        <p:blipFill>
          <a:blip r:embed="rId2"/>
          <a:stretch>
            <a:fillRect/>
          </a:stretch>
        </p:blipFill>
        <p:spPr>
          <a:xfrm>
            <a:off x="6407567" y="2137319"/>
            <a:ext cx="260787" cy="260787"/>
          </a:xfrm>
          <a:prstGeom prst="rect">
            <a:avLst/>
          </a:prstGeom>
        </p:spPr>
      </p:pic>
      <p:sp>
        <p:nvSpPr>
          <p:cNvPr id="12" name="Text 8"/>
          <p:cNvSpPr/>
          <p:nvPr/>
        </p:nvSpPr>
        <p:spPr>
          <a:xfrm>
            <a:off x="6986016" y="2020824"/>
            <a:ext cx="3858768" cy="50292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Gulab Devi</a:t>
            </a:r>
            <a:endParaRPr lang="en-US" sz="1650" dirty="0"/>
          </a:p>
        </p:txBody>
      </p:sp>
      <p:sp>
        <p:nvSpPr>
          <p:cNvPr id="13" name="Text 9"/>
          <p:cNvSpPr/>
          <p:nvPr/>
        </p:nvSpPr>
        <p:spPr>
          <a:xfrm>
            <a:off x="6254496" y="2743200"/>
            <a:ext cx="4590288" cy="2057400"/>
          </a:xfrm>
          <a:prstGeom prst="rect">
            <a:avLst/>
          </a:prstGeom>
          <a:noFill/>
        </p:spPr>
        <p:txBody>
          <a:bodyPr wrap="square" lIns="0" tIns="0" rIns="0" bIns="0" rtlCol="0" anchor="t"/>
          <a:lstStyle/>
          <a:p>
            <a:pPr marL="228600" indent="-228600">
              <a:lnSpc>
                <a:spcPct val="115000"/>
              </a:lnSpc>
              <a:spcAft>
                <a:spcPts val="800"/>
              </a:spcAft>
              <a:buSzPct val="100000"/>
              <a:buChar char="●"/>
            </a:pPr>
            <a:r>
              <a:rPr lang="en-US" sz="1250" dirty="0">
                <a:solidFill>
                  <a:srgbClr val="22313F"/>
                </a:solidFill>
                <a:latin typeface="Calibri" panose="020F0502020204030204" pitchFamily="34" charset="0"/>
                <a:ea typeface="Calibri" panose="020F0502020204030204" pitchFamily="34" charset="-122"/>
                <a:cs typeface="Calibri" panose="020F0502020204030204" pitchFamily="34" charset="-120"/>
              </a:rPr>
              <a:t>Folders carried no diagnosis on their own.</a:t>
            </a:r>
            <a:endParaRPr lang="en-US" sz="1250" dirty="0"/>
          </a:p>
          <a:p>
            <a:pPr marL="228600" indent="-228600">
              <a:lnSpc>
                <a:spcPct val="115000"/>
              </a:lnSpc>
              <a:spcAft>
                <a:spcPts val="800"/>
              </a:spcAft>
              <a:buSzPct val="100000"/>
              <a:buChar char="●"/>
            </a:pPr>
            <a:r>
              <a:rPr lang="en-US" sz="1250" dirty="0">
                <a:solidFill>
                  <a:srgbClr val="22313F"/>
                </a:solidFill>
                <a:latin typeface="Calibri" panose="020F0502020204030204" pitchFamily="34" charset="0"/>
                <a:ea typeface="Calibri" panose="020F0502020204030204" pitchFamily="34" charset="-122"/>
                <a:cs typeface="Calibri" panose="020F0502020204030204" pitchFamily="34" charset="-120"/>
              </a:rPr>
              <a:t>Most held a phone photo of the typed radiology report — used to confirm the finding.</a:t>
            </a:r>
            <a:endParaRPr lang="en-US" sz="1250" dirty="0"/>
          </a:p>
          <a:p>
            <a:pPr marL="228600" indent="-228600">
              <a:lnSpc>
                <a:spcPct val="115000"/>
              </a:lnSpc>
              <a:spcAft>
                <a:spcPts val="800"/>
              </a:spcAft>
              <a:buSzPct val="100000"/>
              <a:buChar char="●"/>
            </a:pPr>
            <a:r>
              <a:rPr lang="en-US" sz="1250" dirty="0">
                <a:solidFill>
                  <a:srgbClr val="22313F"/>
                </a:solidFill>
                <a:latin typeface="Calibri" panose="020F0502020204030204" pitchFamily="34" charset="0"/>
                <a:ea typeface="Calibri" panose="020F0502020204030204" pitchFamily="34" charset="-122"/>
                <a:cs typeface="Calibri" panose="020F0502020204030204" pitchFamily="34" charset="-120"/>
              </a:rPr>
              <a:t>No report photo → labeled "unknown" and excluded, unless the folder name itself was explicit (e.g. "normal gb").</a:t>
            </a:r>
            <a:endParaRPr lang="en-US" sz="1250" dirty="0"/>
          </a:p>
        </p:txBody>
      </p:sp>
      <p:sp>
        <p:nvSpPr>
          <p:cNvPr id="14" name="Shape 10"/>
          <p:cNvSpPr/>
          <p:nvPr/>
        </p:nvSpPr>
        <p:spPr>
          <a:xfrm>
            <a:off x="566928" y="5230368"/>
            <a:ext cx="5138928" cy="960120"/>
          </a:xfrm>
          <a:prstGeom prst="roundRect">
            <a:avLst>
              <a:gd name="adj" fmla="val 8571"/>
            </a:avLst>
          </a:prstGeom>
          <a:solidFill>
            <a:srgbClr val="0B2A4A"/>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5" name="Text 11"/>
          <p:cNvSpPr/>
          <p:nvPr/>
        </p:nvSpPr>
        <p:spPr>
          <a:xfrm>
            <a:off x="822960" y="5230368"/>
            <a:ext cx="4626864" cy="960120"/>
          </a:xfrm>
          <a:prstGeom prst="rect">
            <a:avLst/>
          </a:prstGeom>
          <a:noFill/>
        </p:spPr>
        <p:txBody>
          <a:bodyPr wrap="square" lIns="0" tIns="0" rIns="0" bIns="0" rtlCol="0" anchor="ctr"/>
          <a:lstStyle/>
          <a:p>
            <a:pPr marL="0" indent="0">
              <a:lnSpc>
                <a:spcPct val="115000"/>
              </a:lnSpc>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52 </a:t>
            </a:r>
            <a:r>
              <a:rPr lang="en-US" sz="1250" dirty="0">
                <a:solidFill>
                  <a:srgbClr val="CFE0EC"/>
                </a:solidFill>
                <a:latin typeface="Calibri" panose="020F0502020204030204" pitchFamily="34" charset="0"/>
                <a:ea typeface="Calibri" panose="020F0502020204030204" pitchFamily="34" charset="-122"/>
                <a:cs typeface="Calibri" panose="020F0502020204030204" pitchFamily="34" charset="-120"/>
              </a:rPr>
              <a:t>report photos in the index — evidence behind the labels, not training data.</a:t>
            </a:r>
            <a:endParaRPr lang="en-US" sz="2200" dirty="0"/>
          </a:p>
        </p:txBody>
      </p:sp>
      <p:sp>
        <p:nvSpPr>
          <p:cNvPr id="16" name="Shape 12"/>
          <p:cNvSpPr/>
          <p:nvPr/>
        </p:nvSpPr>
        <p:spPr>
          <a:xfrm>
            <a:off x="5980176" y="5230368"/>
            <a:ext cx="5138928" cy="960120"/>
          </a:xfrm>
          <a:prstGeom prst="roundRect">
            <a:avLst>
              <a:gd name="adj" fmla="val 8571"/>
            </a:avLst>
          </a:prstGeom>
          <a:solidFill>
            <a:srgbClr val="0B2A4A"/>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7" name="Text 13"/>
          <p:cNvSpPr/>
          <p:nvPr/>
        </p:nvSpPr>
        <p:spPr>
          <a:xfrm>
            <a:off x="6236208" y="5230368"/>
            <a:ext cx="4626864" cy="960120"/>
          </a:xfrm>
          <a:prstGeom prst="rect">
            <a:avLst/>
          </a:prstGeom>
          <a:noFill/>
        </p:spPr>
        <p:txBody>
          <a:bodyPr wrap="square" lIns="0" tIns="0" rIns="0" bIns="0" rtlCol="0" anchor="ctr"/>
          <a:lstStyle/>
          <a:p>
            <a:pPr marL="0" indent="0">
              <a:lnSpc>
                <a:spcPct val="115000"/>
              </a:lnSpc>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7 </a:t>
            </a:r>
            <a:r>
              <a:rPr lang="en-US" sz="1250" dirty="0">
                <a:solidFill>
                  <a:srgbClr val="CFE0EC"/>
                </a:solidFill>
                <a:latin typeface="Calibri" panose="020F0502020204030204" pitchFamily="34" charset="0"/>
                <a:ea typeface="Calibri" panose="020F0502020204030204" pitchFamily="34" charset="-122"/>
                <a:cs typeface="Calibri" panose="020F0502020204030204" pitchFamily="34" charset="-120"/>
              </a:rPr>
              <a:t>patients still have no confirmed diagnosis and remain unresolved.</a:t>
            </a:r>
            <a:endParaRPr lang="en-US" sz="2200" dirty="0"/>
          </a:p>
        </p:txBody>
      </p:sp>
      <p:sp>
        <p:nvSpPr>
          <p:cNvPr id="18" name="Text 14"/>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9" name="Text 15"/>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05 / 42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SINGLE SOURCE OF TRUTH</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The Metadata Manifest</a:t>
            </a:r>
            <a:endParaRPr lang="en-US" sz="3000" dirty="0"/>
          </a:p>
        </p:txBody>
      </p:sp>
      <p:sp>
        <p:nvSpPr>
          <p:cNvPr id="4" name="Text 2"/>
          <p:cNvSpPr/>
          <p:nvPr/>
        </p:nvSpPr>
        <p:spPr>
          <a:xfrm>
            <a:off x="566928" y="1645920"/>
            <a:ext cx="11057839" cy="1005840"/>
          </a:xfrm>
          <a:prstGeom prst="rect">
            <a:avLst/>
          </a:prstGeom>
          <a:noFill/>
        </p:spPr>
        <p:txBody>
          <a:bodyPr wrap="square" lIns="0" tIns="0" rIns="0" bIns="0" rtlCol="0" anchor="ctr"/>
          <a:lstStyle/>
          <a:p>
            <a:pPr marL="0" indent="0">
              <a:lnSpc>
                <a:spcPct val="130000"/>
              </a:lnSpc>
              <a:buNone/>
            </a:pPr>
            <a:r>
              <a:rPr lang="en-US" sz="1550" dirty="0">
                <a:solidFill>
                  <a:srgbClr val="22313F"/>
                </a:solidFill>
                <a:latin typeface="Calibri" panose="020F0502020204030204" pitchFamily="34" charset="0"/>
                <a:ea typeface="Calibri" panose="020F0502020204030204" pitchFamily="34" charset="-122"/>
                <a:cs typeface="Calibri" panose="020F0502020204030204" pitchFamily="34" charset="-120"/>
              </a:rPr>
              <a:t>Before a single image was preprocessed, everything was catalogued into one CSV file — one row per image, 15 columns. Nothing reads the image folders directly; every script reads this manifest.</a:t>
            </a:r>
            <a:endParaRPr lang="en-US" sz="1550" dirty="0"/>
          </a:p>
        </p:txBody>
      </p:sp>
      <p:sp>
        <p:nvSpPr>
          <p:cNvPr id="5" name="Shape 3"/>
          <p:cNvSpPr/>
          <p:nvPr/>
        </p:nvSpPr>
        <p:spPr>
          <a:xfrm>
            <a:off x="566928" y="3063240"/>
            <a:ext cx="11057839" cy="2331720"/>
          </a:xfrm>
          <a:prstGeom prst="roundRect">
            <a:avLst>
              <a:gd name="adj" fmla="val 3529"/>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6" name="Text 4"/>
          <p:cNvSpPr/>
          <p:nvPr/>
        </p:nvSpPr>
        <p:spPr>
          <a:xfrm>
            <a:off x="886968" y="3566160"/>
            <a:ext cx="2558720" cy="731520"/>
          </a:xfrm>
          <a:prstGeom prst="rect">
            <a:avLst/>
          </a:prstGeom>
          <a:noFill/>
        </p:spPr>
        <p:txBody>
          <a:bodyPr wrap="square" lIns="0" tIns="0" rIns="0" bIns="0" rtlCol="0" anchor="ctr"/>
          <a:lstStyle/>
          <a:p>
            <a:pPr marL="0" indent="0" algn="ctr">
              <a:buNone/>
            </a:pPr>
            <a:r>
              <a:rPr lang="en-US" sz="4600" b="1" dirty="0">
                <a:solidFill>
                  <a:srgbClr val="0B2A4A"/>
                </a:solidFill>
                <a:latin typeface="Calibri" panose="020F0502020204030204" pitchFamily="34" charset="0"/>
                <a:ea typeface="Calibri" panose="020F0502020204030204" pitchFamily="34" charset="-122"/>
                <a:cs typeface="Calibri" panose="020F0502020204030204" pitchFamily="34" charset="-120"/>
              </a:rPr>
              <a:t>290</a:t>
            </a:r>
            <a:endParaRPr lang="en-US" sz="4600" dirty="0"/>
          </a:p>
        </p:txBody>
      </p:sp>
      <p:sp>
        <p:nvSpPr>
          <p:cNvPr id="7" name="Text 5"/>
          <p:cNvSpPr/>
          <p:nvPr/>
        </p:nvSpPr>
        <p:spPr>
          <a:xfrm>
            <a:off x="886968" y="4224528"/>
            <a:ext cx="2558720" cy="502920"/>
          </a:xfrm>
          <a:prstGeom prst="rect">
            <a:avLst/>
          </a:prstGeom>
          <a:noFill/>
        </p:spPr>
        <p:txBody>
          <a:bodyPr wrap="square" lIns="0" tIns="0" rIns="0" bIns="0" rtlCol="0" anchor="ctr"/>
          <a:lstStyle/>
          <a:p>
            <a:pPr marL="0" indent="0" algn="ctr">
              <a:buNone/>
            </a:pPr>
            <a:r>
              <a:rPr lang="en-US" sz="1150" dirty="0">
                <a:solidFill>
                  <a:srgbClr val="60707E"/>
                </a:solidFill>
                <a:latin typeface="Calibri" panose="020F0502020204030204" pitchFamily="34" charset="0"/>
                <a:ea typeface="Calibri" panose="020F0502020204030204" pitchFamily="34" charset="-122"/>
                <a:cs typeface="Calibri" panose="020F0502020204030204" pitchFamily="34" charset="-120"/>
              </a:rPr>
              <a:t>Total rows in the manifest</a:t>
            </a:r>
            <a:endParaRPr lang="en-US" sz="1150" dirty="0"/>
          </a:p>
        </p:txBody>
      </p:sp>
      <p:sp>
        <p:nvSpPr>
          <p:cNvPr id="8" name="Shape 6"/>
          <p:cNvSpPr/>
          <p:nvPr/>
        </p:nvSpPr>
        <p:spPr>
          <a:xfrm>
            <a:off x="3555416" y="3474720"/>
            <a:ext cx="0" cy="1417320"/>
          </a:xfrm>
          <a:prstGeom prst="line">
            <a:avLst/>
          </a:prstGeom>
          <a:noFill/>
          <a:ln w="12700">
            <a:solidFill>
              <a:srgbClr val="E1E8EE"/>
            </a:solidFill>
            <a:prstDash val="solid"/>
          </a:ln>
        </p:spPr>
        <p:txBody>
          <a:bodyPr/>
          <a:p/>
        </p:txBody>
      </p:sp>
      <p:sp>
        <p:nvSpPr>
          <p:cNvPr id="9" name="Text 7"/>
          <p:cNvSpPr/>
          <p:nvPr/>
        </p:nvSpPr>
        <p:spPr>
          <a:xfrm>
            <a:off x="3665144" y="3566160"/>
            <a:ext cx="2558720" cy="731520"/>
          </a:xfrm>
          <a:prstGeom prst="rect">
            <a:avLst/>
          </a:prstGeom>
          <a:noFill/>
        </p:spPr>
        <p:txBody>
          <a:bodyPr wrap="square" lIns="0" tIns="0" rIns="0" bIns="0" rtlCol="0" anchor="ctr"/>
          <a:lstStyle/>
          <a:p>
            <a:pPr marL="0" indent="0" algn="ctr">
              <a:buNone/>
            </a:pPr>
            <a:r>
              <a:rPr lang="en-US" sz="4600" b="1" dirty="0">
                <a:solidFill>
                  <a:srgbClr val="0B2A4A"/>
                </a:solidFill>
                <a:latin typeface="Calibri" panose="020F0502020204030204" pitchFamily="34" charset="0"/>
                <a:ea typeface="Calibri" panose="020F0502020204030204" pitchFamily="34" charset="-122"/>
                <a:cs typeface="Calibri" panose="020F0502020204030204" pitchFamily="34" charset="-120"/>
              </a:rPr>
              <a:t>238</a:t>
            </a:r>
            <a:endParaRPr lang="en-US" sz="4600" dirty="0"/>
          </a:p>
        </p:txBody>
      </p:sp>
      <p:sp>
        <p:nvSpPr>
          <p:cNvPr id="10" name="Text 8"/>
          <p:cNvSpPr/>
          <p:nvPr/>
        </p:nvSpPr>
        <p:spPr>
          <a:xfrm>
            <a:off x="3665144" y="4224528"/>
            <a:ext cx="2558720" cy="502920"/>
          </a:xfrm>
          <a:prstGeom prst="rect">
            <a:avLst/>
          </a:prstGeom>
          <a:noFill/>
        </p:spPr>
        <p:txBody>
          <a:bodyPr wrap="square" lIns="0" tIns="0" rIns="0" bIns="0" rtlCol="0" anchor="ctr"/>
          <a:lstStyle/>
          <a:p>
            <a:pPr marL="0" indent="0" algn="ctr">
              <a:buNone/>
            </a:pPr>
            <a:r>
              <a:rPr lang="en-US" sz="1150" dirty="0">
                <a:solidFill>
                  <a:srgbClr val="60707E"/>
                </a:solidFill>
                <a:latin typeface="Calibri" panose="020F0502020204030204" pitchFamily="34" charset="0"/>
                <a:ea typeface="Calibri" panose="020F0502020204030204" pitchFamily="34" charset="-122"/>
                <a:cs typeface="Calibri" panose="020F0502020204030204" pitchFamily="34" charset="-120"/>
              </a:rPr>
              <a:t>Ultrasound images catalogued</a:t>
            </a:r>
            <a:endParaRPr lang="en-US" sz="1150" dirty="0"/>
          </a:p>
        </p:txBody>
      </p:sp>
      <p:sp>
        <p:nvSpPr>
          <p:cNvPr id="11" name="Shape 9"/>
          <p:cNvSpPr/>
          <p:nvPr/>
        </p:nvSpPr>
        <p:spPr>
          <a:xfrm>
            <a:off x="6333592" y="3474720"/>
            <a:ext cx="0" cy="1417320"/>
          </a:xfrm>
          <a:prstGeom prst="line">
            <a:avLst/>
          </a:prstGeom>
          <a:noFill/>
          <a:ln w="12700">
            <a:solidFill>
              <a:srgbClr val="E1E8EE"/>
            </a:solidFill>
            <a:prstDash val="solid"/>
          </a:ln>
        </p:spPr>
        <p:txBody>
          <a:bodyPr/>
          <a:p/>
        </p:txBody>
      </p:sp>
      <p:sp>
        <p:nvSpPr>
          <p:cNvPr id="12" name="Text 10"/>
          <p:cNvSpPr/>
          <p:nvPr/>
        </p:nvSpPr>
        <p:spPr>
          <a:xfrm>
            <a:off x="6443320" y="3566160"/>
            <a:ext cx="2558720" cy="731520"/>
          </a:xfrm>
          <a:prstGeom prst="rect">
            <a:avLst/>
          </a:prstGeom>
          <a:noFill/>
        </p:spPr>
        <p:txBody>
          <a:bodyPr wrap="square" lIns="0" tIns="0" rIns="0" bIns="0" rtlCol="0" anchor="ctr"/>
          <a:lstStyle/>
          <a:p>
            <a:pPr marL="0" indent="0" algn="ctr">
              <a:buNone/>
            </a:pPr>
            <a:r>
              <a:rPr lang="en-US" sz="4600" b="1" dirty="0">
                <a:solidFill>
                  <a:srgbClr val="0B2A4A"/>
                </a:solidFill>
                <a:latin typeface="Calibri" panose="020F0502020204030204" pitchFamily="34" charset="0"/>
                <a:ea typeface="Calibri" panose="020F0502020204030204" pitchFamily="34" charset="-122"/>
                <a:cs typeface="Calibri" panose="020F0502020204030204" pitchFamily="34" charset="-120"/>
              </a:rPr>
              <a:t>194</a:t>
            </a:r>
            <a:endParaRPr lang="en-US" sz="4600" dirty="0"/>
          </a:p>
        </p:txBody>
      </p:sp>
      <p:sp>
        <p:nvSpPr>
          <p:cNvPr id="13" name="Text 11"/>
          <p:cNvSpPr/>
          <p:nvPr/>
        </p:nvSpPr>
        <p:spPr>
          <a:xfrm>
            <a:off x="6443320" y="4224528"/>
            <a:ext cx="2558720" cy="502920"/>
          </a:xfrm>
          <a:prstGeom prst="rect">
            <a:avLst/>
          </a:prstGeom>
          <a:noFill/>
        </p:spPr>
        <p:txBody>
          <a:bodyPr wrap="square" lIns="0" tIns="0" rIns="0" bIns="0" rtlCol="0" anchor="ctr"/>
          <a:lstStyle/>
          <a:p>
            <a:pPr marL="0" indent="0" algn="ctr">
              <a:buNone/>
            </a:pPr>
            <a:r>
              <a:rPr lang="en-US" sz="1150" dirty="0">
                <a:solidFill>
                  <a:srgbClr val="60707E"/>
                </a:solidFill>
                <a:latin typeface="Calibri" panose="020F0502020204030204" pitchFamily="34" charset="0"/>
                <a:ea typeface="Calibri" panose="020F0502020204030204" pitchFamily="34" charset="-122"/>
                <a:cs typeface="Calibri" panose="020F0502020204030204" pitchFamily="34" charset="-120"/>
              </a:rPr>
              <a:t>Usable for stones-vs-normal training</a:t>
            </a:r>
            <a:endParaRPr lang="en-US" sz="1150" dirty="0"/>
          </a:p>
        </p:txBody>
      </p:sp>
      <p:sp>
        <p:nvSpPr>
          <p:cNvPr id="14" name="Shape 12"/>
          <p:cNvSpPr/>
          <p:nvPr/>
        </p:nvSpPr>
        <p:spPr>
          <a:xfrm>
            <a:off x="9111767" y="3474720"/>
            <a:ext cx="0" cy="1417320"/>
          </a:xfrm>
          <a:prstGeom prst="line">
            <a:avLst/>
          </a:prstGeom>
          <a:noFill/>
          <a:ln w="12700">
            <a:solidFill>
              <a:srgbClr val="E1E8EE"/>
            </a:solidFill>
            <a:prstDash val="solid"/>
          </a:ln>
        </p:spPr>
        <p:txBody>
          <a:bodyPr/>
          <a:p/>
        </p:txBody>
      </p:sp>
      <p:sp>
        <p:nvSpPr>
          <p:cNvPr id="15" name="Text 13"/>
          <p:cNvSpPr/>
          <p:nvPr/>
        </p:nvSpPr>
        <p:spPr>
          <a:xfrm>
            <a:off x="9221495" y="3566160"/>
            <a:ext cx="2558720" cy="731520"/>
          </a:xfrm>
          <a:prstGeom prst="rect">
            <a:avLst/>
          </a:prstGeom>
          <a:noFill/>
        </p:spPr>
        <p:txBody>
          <a:bodyPr wrap="square" lIns="0" tIns="0" rIns="0" bIns="0" rtlCol="0" anchor="ctr"/>
          <a:lstStyle/>
          <a:p>
            <a:pPr marL="0" indent="0" algn="ctr">
              <a:buNone/>
            </a:pPr>
            <a:r>
              <a:rPr lang="en-US" sz="4600" b="1" dirty="0">
                <a:solidFill>
                  <a:srgbClr val="0B2A4A"/>
                </a:solidFill>
                <a:latin typeface="Calibri" panose="020F0502020204030204" pitchFamily="34" charset="0"/>
                <a:ea typeface="Calibri" panose="020F0502020204030204" pitchFamily="34" charset="-122"/>
                <a:cs typeface="Calibri" panose="020F0502020204030204" pitchFamily="34" charset="-120"/>
              </a:rPr>
              <a:t>136</a:t>
            </a:r>
            <a:endParaRPr lang="en-US" sz="4600" dirty="0"/>
          </a:p>
        </p:txBody>
      </p:sp>
      <p:sp>
        <p:nvSpPr>
          <p:cNvPr id="16" name="Text 14"/>
          <p:cNvSpPr/>
          <p:nvPr/>
        </p:nvSpPr>
        <p:spPr>
          <a:xfrm>
            <a:off x="9221495" y="4224528"/>
            <a:ext cx="2558720" cy="502920"/>
          </a:xfrm>
          <a:prstGeom prst="rect">
            <a:avLst/>
          </a:prstGeom>
          <a:noFill/>
        </p:spPr>
        <p:txBody>
          <a:bodyPr wrap="square" lIns="0" tIns="0" rIns="0" bIns="0" rtlCol="0" anchor="ctr"/>
          <a:lstStyle/>
          <a:p>
            <a:pPr marL="0" indent="0" algn="ctr">
              <a:buNone/>
            </a:pPr>
            <a:r>
              <a:rPr lang="en-US" sz="1150" dirty="0">
                <a:solidFill>
                  <a:srgbClr val="60707E"/>
                </a:solidFill>
                <a:latin typeface="Calibri" panose="020F0502020204030204" pitchFamily="34" charset="0"/>
                <a:ea typeface="Calibri" panose="020F0502020204030204" pitchFamily="34" charset="-122"/>
                <a:cs typeface="Calibri" panose="020F0502020204030204" pitchFamily="34" charset="-120"/>
              </a:rPr>
              <a:t>Unique patients represented</a:t>
            </a:r>
            <a:endParaRPr lang="en-US" sz="1150" dirty="0"/>
          </a:p>
        </p:txBody>
      </p:sp>
      <p:sp>
        <p:nvSpPr>
          <p:cNvPr id="17" name="Text 15"/>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8" name="Text 16"/>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06 / 42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DATA DICTIONARY</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What's Inside the Manifest</a:t>
            </a:r>
            <a:endParaRPr lang="en-US" sz="3000" dirty="0"/>
          </a:p>
        </p:txBody>
      </p:sp>
      <p:sp>
        <p:nvSpPr>
          <p:cNvPr id="4" name="Shape 2"/>
          <p:cNvSpPr/>
          <p:nvPr/>
        </p:nvSpPr>
        <p:spPr>
          <a:xfrm>
            <a:off x="566928" y="1554480"/>
            <a:ext cx="11057839" cy="4709160"/>
          </a:xfrm>
          <a:prstGeom prst="roundRect">
            <a:avLst>
              <a:gd name="adj" fmla="val 1165"/>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5" name="Image 0" descr="table_cropped.png"/>
          <p:cNvPicPr>
            <a:picLocks noChangeAspect="1"/>
          </p:cNvPicPr>
          <p:nvPr/>
        </p:nvPicPr>
        <p:blipFill>
          <a:blip r:embed="rId1"/>
          <a:stretch>
            <a:fillRect/>
          </a:stretch>
        </p:blipFill>
        <p:spPr>
          <a:xfrm>
            <a:off x="2611362" y="1755648"/>
            <a:ext cx="6968971" cy="4306824"/>
          </a:xfrm>
          <a:prstGeom prst="rect">
            <a:avLst/>
          </a:prstGeom>
        </p:spPr>
      </p:pic>
      <p:sp>
        <p:nvSpPr>
          <p:cNvPr id="6" name="Text 3"/>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7" name="Text 4"/>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07 / 42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0 · STEP 1 OF 3</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Removing Non-Gallbladder Images</a:t>
            </a:r>
            <a:endParaRPr lang="en-US" sz="3000" dirty="0"/>
          </a:p>
        </p:txBody>
      </p:sp>
      <p:sp>
        <p:nvSpPr>
          <p:cNvPr id="4" name="Shape 2"/>
          <p:cNvSpPr/>
          <p:nvPr/>
        </p:nvSpPr>
        <p:spPr>
          <a:xfrm>
            <a:off x="566928" y="1874520"/>
            <a:ext cx="5138928" cy="3108960"/>
          </a:xfrm>
          <a:prstGeom prst="roundRect">
            <a:avLst>
              <a:gd name="adj" fmla="val 2647"/>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5" name="Shape 3"/>
          <p:cNvSpPr/>
          <p:nvPr/>
        </p:nvSpPr>
        <p:spPr>
          <a:xfrm>
            <a:off x="859536" y="2194560"/>
            <a:ext cx="640080" cy="640080"/>
          </a:xfrm>
          <a:prstGeom prst="ellipse">
            <a:avLst/>
          </a:prstGeom>
          <a:solidFill>
            <a:srgbClr val="1C7293"/>
          </a:solidFill>
        </p:spPr>
        <p:txBody>
          <a:bodyPr/>
          <a:p/>
        </p:txBody>
      </p:sp>
      <p:pic>
        <p:nvPicPr>
          <p:cNvPr id="6" name="Image 0" descr="icons/hospital.png"/>
          <p:cNvPicPr>
            <a:picLocks noChangeAspect="1"/>
          </p:cNvPicPr>
          <p:nvPr/>
        </p:nvPicPr>
        <p:blipFill>
          <a:blip r:embed="rId1"/>
          <a:stretch>
            <a:fillRect/>
          </a:stretch>
        </p:blipFill>
        <p:spPr>
          <a:xfrm>
            <a:off x="1032358" y="2367382"/>
            <a:ext cx="294437" cy="294437"/>
          </a:xfrm>
          <a:prstGeom prst="rect">
            <a:avLst/>
          </a:prstGeom>
        </p:spPr>
      </p:pic>
      <p:sp>
        <p:nvSpPr>
          <p:cNvPr id="7" name="Text 4"/>
          <p:cNvSpPr/>
          <p:nvPr/>
        </p:nvSpPr>
        <p:spPr>
          <a:xfrm>
            <a:off x="859536" y="3017520"/>
            <a:ext cx="4553712" cy="45720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Chughtai</a:t>
            </a:r>
            <a:endParaRPr lang="en-US" sz="1650" dirty="0"/>
          </a:p>
        </p:txBody>
      </p:sp>
      <p:sp>
        <p:nvSpPr>
          <p:cNvPr id="8" name="Text 5"/>
          <p:cNvSpPr/>
          <p:nvPr/>
        </p:nvSpPr>
        <p:spPr>
          <a:xfrm>
            <a:off x="859536" y="3520440"/>
            <a:ext cx="4553712" cy="118872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Straightforward — the organ name is printed directly on the image.</a:t>
            </a:r>
            <a:endParaRPr lang="en-US" sz="1450" dirty="0"/>
          </a:p>
        </p:txBody>
      </p:sp>
      <p:sp>
        <p:nvSpPr>
          <p:cNvPr id="9" name="Shape 6"/>
          <p:cNvSpPr/>
          <p:nvPr/>
        </p:nvSpPr>
        <p:spPr>
          <a:xfrm>
            <a:off x="5980176" y="1874520"/>
            <a:ext cx="5138928" cy="3108960"/>
          </a:xfrm>
          <a:prstGeom prst="roundRect">
            <a:avLst>
              <a:gd name="adj" fmla="val 2647"/>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0" name="Shape 7"/>
          <p:cNvSpPr/>
          <p:nvPr/>
        </p:nvSpPr>
        <p:spPr>
          <a:xfrm>
            <a:off x="6272784" y="2194560"/>
            <a:ext cx="640080" cy="640080"/>
          </a:xfrm>
          <a:prstGeom prst="ellipse">
            <a:avLst/>
          </a:prstGeom>
          <a:solidFill>
            <a:srgbClr val="1C7293"/>
          </a:solidFill>
        </p:spPr>
        <p:txBody>
          <a:bodyPr/>
          <a:p/>
        </p:txBody>
      </p:sp>
      <p:pic>
        <p:nvPicPr>
          <p:cNvPr id="11" name="Image 1" descr="icons/search.png"/>
          <p:cNvPicPr>
            <a:picLocks noChangeAspect="1"/>
          </p:cNvPicPr>
          <p:nvPr/>
        </p:nvPicPr>
        <p:blipFill>
          <a:blip r:embed="rId2"/>
          <a:stretch>
            <a:fillRect/>
          </a:stretch>
        </p:blipFill>
        <p:spPr>
          <a:xfrm>
            <a:off x="6445606" y="2367382"/>
            <a:ext cx="294437" cy="294437"/>
          </a:xfrm>
          <a:prstGeom prst="rect">
            <a:avLst/>
          </a:prstGeom>
        </p:spPr>
      </p:pic>
      <p:sp>
        <p:nvSpPr>
          <p:cNvPr id="12" name="Text 8"/>
          <p:cNvSpPr/>
          <p:nvPr/>
        </p:nvSpPr>
        <p:spPr>
          <a:xfrm>
            <a:off x="6272784" y="3017520"/>
            <a:ext cx="4553712" cy="45720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Gulab Devi</a:t>
            </a:r>
            <a:endParaRPr lang="en-US" sz="1650" dirty="0"/>
          </a:p>
        </p:txBody>
      </p:sp>
      <p:sp>
        <p:nvSpPr>
          <p:cNvPr id="13" name="Text 9"/>
          <p:cNvSpPr/>
          <p:nvPr/>
        </p:nvSpPr>
        <p:spPr>
          <a:xfrm>
            <a:off x="6272784" y="3520440"/>
            <a:ext cx="4553712" cy="118872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No printed label — each frame was identified by anatomy instead.</a:t>
            </a:r>
            <a:endParaRPr lang="en-US" sz="1450" dirty="0"/>
          </a:p>
        </p:txBody>
      </p:sp>
      <p:sp>
        <p:nvSpPr>
          <p:cNvPr id="14" name="Text 10"/>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5" name="Text 11"/>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08 / 42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0 · STEP 2 OF 3</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Finding and Cropping the Scan Fan</a:t>
            </a:r>
            <a:endParaRPr lang="en-US" sz="3000" dirty="0"/>
          </a:p>
        </p:txBody>
      </p:sp>
      <p:sp>
        <p:nvSpPr>
          <p:cNvPr id="4" name="Text 2"/>
          <p:cNvSpPr/>
          <p:nvPr/>
        </p:nvSpPr>
        <p:spPr>
          <a:xfrm>
            <a:off x="566928" y="1554480"/>
            <a:ext cx="11057839" cy="457200"/>
          </a:xfrm>
          <a:prstGeom prst="rect">
            <a:avLst/>
          </a:prstGeom>
          <a:noFill/>
        </p:spPr>
        <p:txBody>
          <a:bodyPr wrap="square" lIns="0" tIns="0" rIns="0" bIns="0" rtlCol="0" anchor="ctr"/>
          <a:lstStyle/>
          <a:p>
            <a:pPr marL="0" indent="0">
              <a:buNone/>
            </a:pPr>
            <a:r>
              <a:rPr lang="en-US" sz="1500" dirty="0">
                <a:solidFill>
                  <a:srgbClr val="22313F"/>
                </a:solidFill>
                <a:latin typeface="Calibri" panose="020F0502020204030204" pitchFamily="34" charset="0"/>
                <a:ea typeface="Calibri" panose="020F0502020204030204" pitchFamily="34" charset="-122"/>
                <a:cs typeface="Calibri" panose="020F0502020204030204" pitchFamily="34" charset="-120"/>
              </a:rPr>
              <a:t>Every image had identifying text burned in. Here is how the ultrasound fan was isolated:</a:t>
            </a:r>
            <a:endParaRPr lang="en-US" sz="1500" dirty="0"/>
          </a:p>
        </p:txBody>
      </p:sp>
      <p:sp>
        <p:nvSpPr>
          <p:cNvPr id="5" name="Shape 3"/>
          <p:cNvSpPr/>
          <p:nvPr/>
        </p:nvSpPr>
        <p:spPr>
          <a:xfrm>
            <a:off x="566928" y="2148840"/>
            <a:ext cx="566928" cy="566928"/>
          </a:xfrm>
          <a:prstGeom prst="ellipse">
            <a:avLst/>
          </a:prstGeom>
          <a:solidFill>
            <a:srgbClr val="1C7293"/>
          </a:solidFill>
        </p:spPr>
        <p:txBody>
          <a:bodyPr/>
          <a:p/>
        </p:txBody>
      </p:sp>
      <p:pic>
        <p:nvPicPr>
          <p:cNvPr id="6" name="Image 0" descr="icons/filter.png"/>
          <p:cNvPicPr>
            <a:picLocks noChangeAspect="1"/>
          </p:cNvPicPr>
          <p:nvPr/>
        </p:nvPicPr>
        <p:blipFill>
          <a:blip r:embed="rId1"/>
          <a:stretch>
            <a:fillRect/>
          </a:stretch>
        </p:blipFill>
        <p:spPr>
          <a:xfrm>
            <a:off x="719999" y="2301911"/>
            <a:ext cx="260787" cy="260787"/>
          </a:xfrm>
          <a:prstGeom prst="rect">
            <a:avLst/>
          </a:prstGeom>
        </p:spPr>
      </p:pic>
      <p:sp>
        <p:nvSpPr>
          <p:cNvPr id="7" name="Shape 4"/>
          <p:cNvSpPr/>
          <p:nvPr/>
        </p:nvSpPr>
        <p:spPr>
          <a:xfrm>
            <a:off x="986228" y="2568140"/>
            <a:ext cx="238110" cy="238110"/>
          </a:xfrm>
          <a:prstGeom prst="ellipse">
            <a:avLst/>
          </a:prstGeom>
          <a:solidFill>
            <a:srgbClr val="0B2A4A"/>
          </a:solidFill>
          <a:ln w="19050">
            <a:solidFill>
              <a:srgbClr val="FFFFFF"/>
            </a:solidFill>
            <a:prstDash val="solid"/>
          </a:ln>
        </p:spPr>
        <p:txBody>
          <a:bodyPr/>
          <a:p/>
        </p:txBody>
      </p:sp>
      <p:sp>
        <p:nvSpPr>
          <p:cNvPr id="8" name="Text 5"/>
          <p:cNvSpPr/>
          <p:nvPr/>
        </p:nvSpPr>
        <p:spPr>
          <a:xfrm>
            <a:off x="986228" y="2568140"/>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50" dirty="0"/>
          </a:p>
        </p:txBody>
      </p:sp>
      <p:sp>
        <p:nvSpPr>
          <p:cNvPr id="9" name="Text 6"/>
          <p:cNvSpPr/>
          <p:nvPr/>
        </p:nvSpPr>
        <p:spPr>
          <a:xfrm>
            <a:off x="1435608" y="2093976"/>
            <a:ext cx="283464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Threshold the image</a:t>
            </a:r>
            <a:endParaRPr lang="en-US" sz="1500" dirty="0"/>
          </a:p>
        </p:txBody>
      </p:sp>
      <p:sp>
        <p:nvSpPr>
          <p:cNvPr id="10" name="Text 7"/>
          <p:cNvSpPr/>
          <p:nvPr/>
        </p:nvSpPr>
        <p:spPr>
          <a:xfrm>
            <a:off x="4361688" y="2093976"/>
            <a:ext cx="7263079" cy="676656"/>
          </a:xfrm>
          <a:prstGeom prst="rect">
            <a:avLst/>
          </a:prstGeom>
          <a:noFill/>
        </p:spPr>
        <p:txBody>
          <a:bodyPr wrap="square" lIns="0" tIns="0" rIns="0" bIns="0" rtlCol="0" anchor="ctr"/>
          <a:lstStyle/>
          <a:p>
            <a:pPr marL="0" indent="0">
              <a:lnSpc>
                <a:spcPct val="115000"/>
              </a:lnSpc>
              <a:buNone/>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Convert to grayscale and threshold, separating bright pixels from the dark background.</a:t>
            </a:r>
            <a:endParaRPr lang="en-US" sz="1350" dirty="0"/>
          </a:p>
        </p:txBody>
      </p:sp>
      <p:sp>
        <p:nvSpPr>
          <p:cNvPr id="11" name="Shape 8"/>
          <p:cNvSpPr/>
          <p:nvPr/>
        </p:nvSpPr>
        <p:spPr>
          <a:xfrm>
            <a:off x="566928" y="3044952"/>
            <a:ext cx="11057839" cy="0"/>
          </a:xfrm>
          <a:prstGeom prst="line">
            <a:avLst/>
          </a:prstGeom>
          <a:noFill/>
          <a:ln w="12700">
            <a:solidFill>
              <a:srgbClr val="E1E8EE"/>
            </a:solidFill>
            <a:prstDash val="solid"/>
          </a:ln>
        </p:spPr>
        <p:txBody>
          <a:bodyPr/>
          <a:p/>
        </p:txBody>
      </p:sp>
      <p:sp>
        <p:nvSpPr>
          <p:cNvPr id="12" name="Shape 9"/>
          <p:cNvSpPr/>
          <p:nvPr/>
        </p:nvSpPr>
        <p:spPr>
          <a:xfrm>
            <a:off x="566928" y="3172968"/>
            <a:ext cx="566928" cy="566928"/>
          </a:xfrm>
          <a:prstGeom prst="ellipse">
            <a:avLst/>
          </a:prstGeom>
          <a:solidFill>
            <a:srgbClr val="1C7293"/>
          </a:solidFill>
        </p:spPr>
        <p:txBody>
          <a:bodyPr/>
          <a:p/>
        </p:txBody>
      </p:sp>
      <p:pic>
        <p:nvPicPr>
          <p:cNvPr id="13" name="Image 1" descr="icons/layers.png"/>
          <p:cNvPicPr>
            <a:picLocks noChangeAspect="1"/>
          </p:cNvPicPr>
          <p:nvPr/>
        </p:nvPicPr>
        <p:blipFill>
          <a:blip r:embed="rId2"/>
          <a:stretch>
            <a:fillRect/>
          </a:stretch>
        </p:blipFill>
        <p:spPr>
          <a:xfrm>
            <a:off x="719999" y="3326039"/>
            <a:ext cx="260787" cy="260787"/>
          </a:xfrm>
          <a:prstGeom prst="rect">
            <a:avLst/>
          </a:prstGeom>
        </p:spPr>
      </p:pic>
      <p:sp>
        <p:nvSpPr>
          <p:cNvPr id="14" name="Shape 10"/>
          <p:cNvSpPr/>
          <p:nvPr/>
        </p:nvSpPr>
        <p:spPr>
          <a:xfrm>
            <a:off x="986228" y="3592268"/>
            <a:ext cx="238110" cy="238110"/>
          </a:xfrm>
          <a:prstGeom prst="ellipse">
            <a:avLst/>
          </a:prstGeom>
          <a:solidFill>
            <a:srgbClr val="0B2A4A"/>
          </a:solidFill>
          <a:ln w="19050">
            <a:solidFill>
              <a:srgbClr val="FFFFFF"/>
            </a:solidFill>
            <a:prstDash val="solid"/>
          </a:ln>
        </p:spPr>
        <p:txBody>
          <a:bodyPr/>
          <a:p/>
        </p:txBody>
      </p:sp>
      <p:sp>
        <p:nvSpPr>
          <p:cNvPr id="15" name="Text 11"/>
          <p:cNvSpPr/>
          <p:nvPr/>
        </p:nvSpPr>
        <p:spPr>
          <a:xfrm>
            <a:off x="986228" y="3592268"/>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50" dirty="0"/>
          </a:p>
        </p:txBody>
      </p:sp>
      <p:sp>
        <p:nvSpPr>
          <p:cNvPr id="16" name="Text 12"/>
          <p:cNvSpPr/>
          <p:nvPr/>
        </p:nvSpPr>
        <p:spPr>
          <a:xfrm>
            <a:off x="1435608" y="3118104"/>
            <a:ext cx="283464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Clean up speckle</a:t>
            </a:r>
            <a:endParaRPr lang="en-US" sz="1500" dirty="0"/>
          </a:p>
        </p:txBody>
      </p:sp>
      <p:sp>
        <p:nvSpPr>
          <p:cNvPr id="17" name="Text 13"/>
          <p:cNvSpPr/>
          <p:nvPr/>
        </p:nvSpPr>
        <p:spPr>
          <a:xfrm>
            <a:off x="4361688" y="3118104"/>
            <a:ext cx="7263079" cy="676656"/>
          </a:xfrm>
          <a:prstGeom prst="rect">
            <a:avLst/>
          </a:prstGeom>
          <a:noFill/>
        </p:spPr>
        <p:txBody>
          <a:bodyPr wrap="square" lIns="0" tIns="0" rIns="0" bIns="0" rtlCol="0" anchor="ctr"/>
          <a:lstStyle/>
          <a:p>
            <a:pPr marL="0" indent="0">
              <a:lnSpc>
                <a:spcPct val="115000"/>
              </a:lnSpc>
              <a:buNone/>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Apply a morphological open, then a close, to remove small speckle noise.</a:t>
            </a:r>
            <a:endParaRPr lang="en-US" sz="1350" dirty="0"/>
          </a:p>
        </p:txBody>
      </p:sp>
      <p:sp>
        <p:nvSpPr>
          <p:cNvPr id="18" name="Shape 14"/>
          <p:cNvSpPr/>
          <p:nvPr/>
        </p:nvSpPr>
        <p:spPr>
          <a:xfrm>
            <a:off x="566928" y="4069080"/>
            <a:ext cx="11057839" cy="0"/>
          </a:xfrm>
          <a:prstGeom prst="line">
            <a:avLst/>
          </a:prstGeom>
          <a:noFill/>
          <a:ln w="12700">
            <a:solidFill>
              <a:srgbClr val="E1E8EE"/>
            </a:solidFill>
            <a:prstDash val="solid"/>
          </a:ln>
        </p:spPr>
        <p:txBody>
          <a:bodyPr/>
          <a:p/>
        </p:txBody>
      </p:sp>
      <p:sp>
        <p:nvSpPr>
          <p:cNvPr id="19" name="Shape 15"/>
          <p:cNvSpPr/>
          <p:nvPr/>
        </p:nvSpPr>
        <p:spPr>
          <a:xfrm>
            <a:off x="566928" y="4197096"/>
            <a:ext cx="566928" cy="566928"/>
          </a:xfrm>
          <a:prstGeom prst="ellipse">
            <a:avLst/>
          </a:prstGeom>
          <a:solidFill>
            <a:srgbClr val="1C7293"/>
          </a:solidFill>
        </p:spPr>
        <p:txBody>
          <a:bodyPr/>
          <a:p/>
        </p:txBody>
      </p:sp>
      <p:pic>
        <p:nvPicPr>
          <p:cNvPr id="20" name="Image 2" descr="icons/search.png"/>
          <p:cNvPicPr>
            <a:picLocks noChangeAspect="1"/>
          </p:cNvPicPr>
          <p:nvPr/>
        </p:nvPicPr>
        <p:blipFill>
          <a:blip r:embed="rId3"/>
          <a:stretch>
            <a:fillRect/>
          </a:stretch>
        </p:blipFill>
        <p:spPr>
          <a:xfrm>
            <a:off x="719999" y="4350167"/>
            <a:ext cx="260787" cy="260787"/>
          </a:xfrm>
          <a:prstGeom prst="rect">
            <a:avLst/>
          </a:prstGeom>
        </p:spPr>
      </p:pic>
      <p:sp>
        <p:nvSpPr>
          <p:cNvPr id="21" name="Shape 16"/>
          <p:cNvSpPr/>
          <p:nvPr/>
        </p:nvSpPr>
        <p:spPr>
          <a:xfrm>
            <a:off x="986228" y="4616396"/>
            <a:ext cx="238110" cy="238110"/>
          </a:xfrm>
          <a:prstGeom prst="ellipse">
            <a:avLst/>
          </a:prstGeom>
          <a:solidFill>
            <a:srgbClr val="0B2A4A"/>
          </a:solidFill>
          <a:ln w="19050">
            <a:solidFill>
              <a:srgbClr val="FFFFFF"/>
            </a:solidFill>
            <a:prstDash val="solid"/>
          </a:ln>
        </p:spPr>
        <p:txBody>
          <a:bodyPr/>
          <a:p/>
        </p:txBody>
      </p:sp>
      <p:sp>
        <p:nvSpPr>
          <p:cNvPr id="22" name="Text 17"/>
          <p:cNvSpPr/>
          <p:nvPr/>
        </p:nvSpPr>
        <p:spPr>
          <a:xfrm>
            <a:off x="986228" y="4616396"/>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50" dirty="0"/>
          </a:p>
        </p:txBody>
      </p:sp>
      <p:sp>
        <p:nvSpPr>
          <p:cNvPr id="23" name="Text 18"/>
          <p:cNvSpPr/>
          <p:nvPr/>
        </p:nvSpPr>
        <p:spPr>
          <a:xfrm>
            <a:off x="1435608" y="4142232"/>
            <a:ext cx="283464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Find the fan</a:t>
            </a:r>
            <a:endParaRPr lang="en-US" sz="1500" dirty="0"/>
          </a:p>
        </p:txBody>
      </p:sp>
      <p:sp>
        <p:nvSpPr>
          <p:cNvPr id="24" name="Text 19"/>
          <p:cNvSpPr/>
          <p:nvPr/>
        </p:nvSpPr>
        <p:spPr>
          <a:xfrm>
            <a:off x="4361688" y="4142232"/>
            <a:ext cx="7263079" cy="676656"/>
          </a:xfrm>
          <a:prstGeom prst="rect">
            <a:avLst/>
          </a:prstGeom>
          <a:noFill/>
        </p:spPr>
        <p:txBody>
          <a:bodyPr wrap="square" lIns="0" tIns="0" rIns="0" bIns="0" rtlCol="0" anchor="ctr"/>
          <a:lstStyle/>
          <a:p>
            <a:pPr marL="0" indent="0">
              <a:lnSpc>
                <a:spcPct val="115000"/>
              </a:lnSpc>
              <a:buNone/>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Locate the largest connected blob — this is the ultrasound fan itself.</a:t>
            </a:r>
            <a:endParaRPr lang="en-US" sz="1350" dirty="0"/>
          </a:p>
        </p:txBody>
      </p:sp>
      <p:sp>
        <p:nvSpPr>
          <p:cNvPr id="25" name="Shape 20"/>
          <p:cNvSpPr/>
          <p:nvPr/>
        </p:nvSpPr>
        <p:spPr>
          <a:xfrm>
            <a:off x="566928" y="5093208"/>
            <a:ext cx="11057839" cy="0"/>
          </a:xfrm>
          <a:prstGeom prst="line">
            <a:avLst/>
          </a:prstGeom>
          <a:noFill/>
          <a:ln w="12700">
            <a:solidFill>
              <a:srgbClr val="E1E8EE"/>
            </a:solidFill>
            <a:prstDash val="solid"/>
          </a:ln>
        </p:spPr>
        <p:txBody>
          <a:bodyPr/>
          <a:p/>
        </p:txBody>
      </p:sp>
      <p:sp>
        <p:nvSpPr>
          <p:cNvPr id="26" name="Shape 21"/>
          <p:cNvSpPr/>
          <p:nvPr/>
        </p:nvSpPr>
        <p:spPr>
          <a:xfrm>
            <a:off x="566928" y="5221224"/>
            <a:ext cx="566928" cy="566928"/>
          </a:xfrm>
          <a:prstGeom prst="ellipse">
            <a:avLst/>
          </a:prstGeom>
          <a:solidFill>
            <a:srgbClr val="1C7293"/>
          </a:solidFill>
        </p:spPr>
        <p:txBody>
          <a:bodyPr/>
          <a:p/>
        </p:txBody>
      </p:sp>
      <p:pic>
        <p:nvPicPr>
          <p:cNvPr id="27" name="Image 3" descr="icons/cut.png"/>
          <p:cNvPicPr>
            <a:picLocks noChangeAspect="1"/>
          </p:cNvPicPr>
          <p:nvPr/>
        </p:nvPicPr>
        <p:blipFill>
          <a:blip r:embed="rId4"/>
          <a:stretch>
            <a:fillRect/>
          </a:stretch>
        </p:blipFill>
        <p:spPr>
          <a:xfrm>
            <a:off x="719999" y="5374295"/>
            <a:ext cx="260787" cy="260787"/>
          </a:xfrm>
          <a:prstGeom prst="rect">
            <a:avLst/>
          </a:prstGeom>
        </p:spPr>
      </p:pic>
      <p:sp>
        <p:nvSpPr>
          <p:cNvPr id="28" name="Shape 22"/>
          <p:cNvSpPr/>
          <p:nvPr/>
        </p:nvSpPr>
        <p:spPr>
          <a:xfrm>
            <a:off x="986228" y="5640524"/>
            <a:ext cx="238110" cy="238110"/>
          </a:xfrm>
          <a:prstGeom prst="ellipse">
            <a:avLst/>
          </a:prstGeom>
          <a:solidFill>
            <a:srgbClr val="0B2A4A"/>
          </a:solidFill>
          <a:ln w="19050">
            <a:solidFill>
              <a:srgbClr val="FFFFFF"/>
            </a:solidFill>
            <a:prstDash val="solid"/>
          </a:ln>
        </p:spPr>
        <p:txBody>
          <a:bodyPr/>
          <a:p/>
        </p:txBody>
      </p:sp>
      <p:sp>
        <p:nvSpPr>
          <p:cNvPr id="29" name="Text 23"/>
          <p:cNvSpPr/>
          <p:nvPr/>
        </p:nvSpPr>
        <p:spPr>
          <a:xfrm>
            <a:off x="986228" y="5640524"/>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50" dirty="0"/>
          </a:p>
        </p:txBody>
      </p:sp>
      <p:sp>
        <p:nvSpPr>
          <p:cNvPr id="30" name="Text 24"/>
          <p:cNvSpPr/>
          <p:nvPr/>
        </p:nvSpPr>
        <p:spPr>
          <a:xfrm>
            <a:off x="1435608" y="5166360"/>
            <a:ext cx="283464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Crop tightly</a:t>
            </a:r>
            <a:endParaRPr lang="en-US" sz="1500" dirty="0"/>
          </a:p>
        </p:txBody>
      </p:sp>
      <p:sp>
        <p:nvSpPr>
          <p:cNvPr id="31" name="Text 25"/>
          <p:cNvSpPr/>
          <p:nvPr/>
        </p:nvSpPr>
        <p:spPr>
          <a:xfrm>
            <a:off x="4361688" y="5166360"/>
            <a:ext cx="7263079" cy="676656"/>
          </a:xfrm>
          <a:prstGeom prst="rect">
            <a:avLst/>
          </a:prstGeom>
          <a:noFill/>
        </p:spPr>
        <p:txBody>
          <a:bodyPr wrap="square" lIns="0" tIns="0" rIns="0" bIns="0" rtlCol="0" anchor="ctr"/>
          <a:lstStyle/>
          <a:p>
            <a:pPr marL="0" indent="0">
              <a:lnSpc>
                <a:spcPct val="115000"/>
              </a:lnSpc>
              <a:buNone/>
            </a:pPr>
            <a:r>
              <a:rPr lang="en-US" sz="1350" dirty="0">
                <a:solidFill>
                  <a:srgbClr val="22313F"/>
                </a:solidFill>
                <a:latin typeface="Calibri" panose="020F0502020204030204" pitchFamily="34" charset="0"/>
                <a:ea typeface="Calibri" panose="020F0502020204030204" pitchFamily="34" charset="-122"/>
                <a:cs typeface="Calibri" panose="020F0502020204030204" pitchFamily="34" charset="-120"/>
              </a:rPr>
              <a:t>Crop the image tightly to that blob's bounding box.</a:t>
            </a:r>
            <a:endParaRPr lang="en-US" sz="1350" dirty="0"/>
          </a:p>
        </p:txBody>
      </p:sp>
      <p:sp>
        <p:nvSpPr>
          <p:cNvPr id="32" name="Text 26"/>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33" name="Text 27"/>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09 / 42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0 · STEP 3 OF 3</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Cropping Removes the Identifiers</a:t>
            </a:r>
            <a:endParaRPr lang="en-US" sz="3000" dirty="0"/>
          </a:p>
        </p:txBody>
      </p:sp>
      <p:sp>
        <p:nvSpPr>
          <p:cNvPr id="4" name="Text 2"/>
          <p:cNvSpPr/>
          <p:nvPr/>
        </p:nvSpPr>
        <p:spPr>
          <a:xfrm>
            <a:off x="566928" y="1783080"/>
            <a:ext cx="7948879" cy="3657600"/>
          </a:xfrm>
          <a:prstGeom prst="rect">
            <a:avLst/>
          </a:prstGeom>
          <a:noFill/>
        </p:spPr>
        <p:txBody>
          <a:bodyPr wrap="square" lIns="0" tIns="0" rIns="0" bIns="0" rtlCol="0" anchor="t"/>
          <a:lstStyle/>
          <a:p>
            <a:pPr marL="228600" indent="-228600">
              <a:lnSpc>
                <a:spcPct val="115000"/>
              </a:lnSpc>
              <a:spcAft>
                <a:spcPts val="18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The patient name and MRN sit in the black margin outside the fan — cropping to the fan removes them automatically.</a:t>
            </a:r>
            <a:endParaRPr lang="en-US" sz="1450" dirty="0"/>
          </a:p>
          <a:p>
            <a:pPr marL="228600" indent="-228600">
              <a:lnSpc>
                <a:spcPct val="115000"/>
              </a:lnSpc>
              <a:spcAft>
                <a:spcPts val="18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For dual-pane Chughtai images, the right half was isolated first, since the gallbladder consistently sits in the right pane on their machine.</a:t>
            </a:r>
            <a:endParaRPr lang="en-US" sz="1450" dirty="0"/>
          </a:p>
          <a:p>
            <a:pPr marL="228600" indent="-228600">
              <a:lnSpc>
                <a:spcPct val="115000"/>
              </a:lnSpc>
              <a:spcAft>
                <a:spcPts val="1800"/>
              </a:spcAft>
              <a:buSzPct val="100000"/>
              <a:buChar char="●"/>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Output: one PNG per gallbladder frame, saved to the processed/ folder.</a:t>
            </a:r>
            <a:endParaRPr lang="en-US" sz="1450" dirty="0"/>
          </a:p>
        </p:txBody>
      </p:sp>
      <p:sp>
        <p:nvSpPr>
          <p:cNvPr id="5" name="Shape 3"/>
          <p:cNvSpPr/>
          <p:nvPr/>
        </p:nvSpPr>
        <p:spPr>
          <a:xfrm>
            <a:off x="9338767" y="2377440"/>
            <a:ext cx="1371600" cy="1371600"/>
          </a:xfrm>
          <a:prstGeom prst="ellipse">
            <a:avLst/>
          </a:prstGeom>
          <a:solidFill>
            <a:srgbClr val="1C7293"/>
          </a:solidFill>
        </p:spPr>
        <p:txBody>
          <a:bodyPr/>
          <a:p/>
        </p:txBody>
      </p:sp>
      <p:pic>
        <p:nvPicPr>
          <p:cNvPr id="6" name="Image 0" descr="icons/check.png"/>
          <p:cNvPicPr>
            <a:picLocks noChangeAspect="1"/>
          </p:cNvPicPr>
          <p:nvPr/>
        </p:nvPicPr>
        <p:blipFill>
          <a:blip r:embed="rId1"/>
          <a:stretch>
            <a:fillRect/>
          </a:stretch>
        </p:blipFill>
        <p:spPr>
          <a:xfrm>
            <a:off x="9709099" y="2747772"/>
            <a:ext cx="630936" cy="630936"/>
          </a:xfrm>
          <a:prstGeom prst="rect">
            <a:avLst/>
          </a:prstGeom>
        </p:spPr>
      </p:pic>
      <p:sp>
        <p:nvSpPr>
          <p:cNvPr id="7" name="Text 4"/>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8" name="Text 5"/>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10 / 42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RESULT · STAGE 0</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Before &amp; After: Fan Cropping</a:t>
            </a:r>
            <a:endParaRPr lang="en-US" sz="3000" dirty="0"/>
          </a:p>
        </p:txBody>
      </p:sp>
      <p:sp>
        <p:nvSpPr>
          <p:cNvPr id="4" name="Shape 2"/>
          <p:cNvSpPr/>
          <p:nvPr/>
        </p:nvSpPr>
        <p:spPr>
          <a:xfrm>
            <a:off x="566928"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5" name="Image 0" descr="unpacked/ppt/media/image2.png"/>
          <p:cNvPicPr>
            <a:picLocks noChangeAspect="1"/>
          </p:cNvPicPr>
          <p:nvPr/>
        </p:nvPicPr>
        <p:blipFill>
          <a:blip r:embed="rId1"/>
          <a:stretch>
            <a:fillRect/>
          </a:stretch>
        </p:blipFill>
        <p:spPr>
          <a:xfrm>
            <a:off x="768096" y="2109978"/>
            <a:ext cx="4736592" cy="3552444"/>
          </a:xfrm>
          <a:prstGeom prst="rect">
            <a:avLst/>
          </a:prstGeom>
        </p:spPr>
      </p:pic>
      <p:sp>
        <p:nvSpPr>
          <p:cNvPr id="6" name="Shape 3"/>
          <p:cNvSpPr/>
          <p:nvPr/>
        </p:nvSpPr>
        <p:spPr>
          <a:xfrm>
            <a:off x="786384" y="1911096"/>
            <a:ext cx="1417320" cy="310896"/>
          </a:xfrm>
          <a:prstGeom prst="roundRect">
            <a:avLst>
              <a:gd name="adj" fmla="val 50000"/>
            </a:avLst>
          </a:prstGeom>
          <a:solidFill>
            <a:srgbClr val="70808C"/>
          </a:solidFill>
        </p:spPr>
        <p:txBody>
          <a:bodyPr/>
          <a:p/>
        </p:txBody>
      </p:sp>
      <p:sp>
        <p:nvSpPr>
          <p:cNvPr id="7" name="Text 4"/>
          <p:cNvSpPr/>
          <p:nvPr/>
        </p:nvSpPr>
        <p:spPr>
          <a:xfrm>
            <a:off x="786384"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BEFORE</a:t>
            </a:r>
            <a:endParaRPr lang="en-US" sz="1150" dirty="0"/>
          </a:p>
        </p:txBody>
      </p:sp>
      <p:sp>
        <p:nvSpPr>
          <p:cNvPr id="8" name="Shape 5"/>
          <p:cNvSpPr/>
          <p:nvPr/>
        </p:nvSpPr>
        <p:spPr>
          <a:xfrm>
            <a:off x="6016752"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9" name="Image 1" descr="unpacked/ppt/media/image4.png"/>
          <p:cNvPicPr>
            <a:picLocks noChangeAspect="1"/>
          </p:cNvPicPr>
          <p:nvPr/>
        </p:nvPicPr>
        <p:blipFill>
          <a:blip r:embed="rId2"/>
          <a:stretch>
            <a:fillRect/>
          </a:stretch>
        </p:blipFill>
        <p:spPr>
          <a:xfrm>
            <a:off x="6955573" y="1892808"/>
            <a:ext cx="3261286" cy="3986784"/>
          </a:xfrm>
          <a:prstGeom prst="rect">
            <a:avLst/>
          </a:prstGeom>
        </p:spPr>
      </p:pic>
      <p:sp>
        <p:nvSpPr>
          <p:cNvPr id="10" name="Shape 6"/>
          <p:cNvSpPr/>
          <p:nvPr/>
        </p:nvSpPr>
        <p:spPr>
          <a:xfrm>
            <a:off x="6236208" y="1911096"/>
            <a:ext cx="1417320" cy="310896"/>
          </a:xfrm>
          <a:prstGeom prst="roundRect">
            <a:avLst>
              <a:gd name="adj" fmla="val 50000"/>
            </a:avLst>
          </a:prstGeom>
          <a:solidFill>
            <a:srgbClr val="1C7293"/>
          </a:solidFill>
        </p:spPr>
        <p:txBody>
          <a:bodyPr/>
          <a:p/>
        </p:txBody>
      </p:sp>
      <p:sp>
        <p:nvSpPr>
          <p:cNvPr id="11" name="Text 7"/>
          <p:cNvSpPr/>
          <p:nvPr/>
        </p:nvSpPr>
        <p:spPr>
          <a:xfrm>
            <a:off x="6236208"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AFTER</a:t>
            </a:r>
            <a:endParaRPr lang="en-US" sz="1150" dirty="0"/>
          </a:p>
        </p:txBody>
      </p:sp>
      <p:sp>
        <p:nvSpPr>
          <p:cNvPr id="12" name="Text 8"/>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3" name="Text 9"/>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11 / 42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DATA QUALITY</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Handling Near-Duplicate Frames</a:t>
            </a:r>
            <a:endParaRPr lang="en-US" sz="3000" dirty="0"/>
          </a:p>
        </p:txBody>
      </p:sp>
      <p:sp>
        <p:nvSpPr>
          <p:cNvPr id="4" name="Shape 2"/>
          <p:cNvSpPr/>
          <p:nvPr/>
        </p:nvSpPr>
        <p:spPr>
          <a:xfrm>
            <a:off x="566928" y="1691640"/>
            <a:ext cx="621792" cy="621792"/>
          </a:xfrm>
          <a:prstGeom prst="ellipse">
            <a:avLst/>
          </a:prstGeom>
          <a:solidFill>
            <a:srgbClr val="1C7293"/>
          </a:solidFill>
        </p:spPr>
        <p:txBody>
          <a:bodyPr/>
          <a:p/>
        </p:txBody>
      </p:sp>
      <p:pic>
        <p:nvPicPr>
          <p:cNvPr id="5" name="Image 0" descr="icons/warning.png"/>
          <p:cNvPicPr>
            <a:picLocks noChangeAspect="1"/>
          </p:cNvPicPr>
          <p:nvPr/>
        </p:nvPicPr>
        <p:blipFill>
          <a:blip r:embed="rId1"/>
          <a:stretch>
            <a:fillRect/>
          </a:stretch>
        </p:blipFill>
        <p:spPr>
          <a:xfrm>
            <a:off x="734812" y="1859524"/>
            <a:ext cx="286024" cy="286024"/>
          </a:xfrm>
          <a:prstGeom prst="rect">
            <a:avLst/>
          </a:prstGeom>
        </p:spPr>
      </p:pic>
      <p:sp>
        <p:nvSpPr>
          <p:cNvPr id="6" name="Text 3"/>
          <p:cNvSpPr/>
          <p:nvPr/>
        </p:nvSpPr>
        <p:spPr>
          <a:xfrm>
            <a:off x="1435608" y="1664208"/>
            <a:ext cx="2377440" cy="621792"/>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The Problem</a:t>
            </a:r>
            <a:endParaRPr lang="en-US" sz="1650" dirty="0"/>
          </a:p>
        </p:txBody>
      </p:sp>
      <p:sp>
        <p:nvSpPr>
          <p:cNvPr id="7" name="Text 4"/>
          <p:cNvSpPr/>
          <p:nvPr/>
        </p:nvSpPr>
        <p:spPr>
          <a:xfrm>
            <a:off x="3950208" y="1618488"/>
            <a:ext cx="7674559" cy="1389888"/>
          </a:xfrm>
          <a:prstGeom prst="rect">
            <a:avLst/>
          </a:prstGeom>
          <a:noFill/>
        </p:spPr>
        <p:txBody>
          <a:bodyPr wrap="square" lIns="0" tIns="0" rIns="0" bIns="0" rtlCol="0" anchor="ctr"/>
          <a:lstStyle/>
          <a:p>
            <a:pPr marL="0" indent="0">
              <a:lnSpc>
                <a:spcPct val="122000"/>
              </a:lnSpc>
              <a:buNone/>
            </a:pPr>
            <a:r>
              <a:rPr lang="en-US" sz="1400" dirty="0">
                <a:solidFill>
                  <a:srgbClr val="22313F"/>
                </a:solidFill>
                <a:latin typeface="Calibri" panose="020F0502020204030204" pitchFamily="34" charset="0"/>
                <a:ea typeface="Calibri" panose="020F0502020204030204" pitchFamily="34" charset="-122"/>
                <a:cs typeface="Calibri" panose="020F0502020204030204" pitchFamily="34" charset="-120"/>
              </a:rPr>
              <a:t>Frames of the same patient taken a few seconds apart can end up in both the training and testing sets, causing the model to overfit on that patient.</a:t>
            </a:r>
            <a:endParaRPr lang="en-US" sz="1400" dirty="0"/>
          </a:p>
        </p:txBody>
      </p:sp>
      <p:sp>
        <p:nvSpPr>
          <p:cNvPr id="8" name="Shape 5"/>
          <p:cNvSpPr/>
          <p:nvPr/>
        </p:nvSpPr>
        <p:spPr>
          <a:xfrm>
            <a:off x="566928" y="2990088"/>
            <a:ext cx="11057839" cy="0"/>
          </a:xfrm>
          <a:prstGeom prst="line">
            <a:avLst/>
          </a:prstGeom>
          <a:noFill/>
          <a:ln w="12700">
            <a:solidFill>
              <a:srgbClr val="E1E8EE"/>
            </a:solidFill>
            <a:prstDash val="solid"/>
          </a:ln>
        </p:spPr>
        <p:txBody>
          <a:bodyPr/>
          <a:p/>
        </p:txBody>
      </p:sp>
      <p:sp>
        <p:nvSpPr>
          <p:cNvPr id="9" name="Shape 6"/>
          <p:cNvSpPr/>
          <p:nvPr/>
        </p:nvSpPr>
        <p:spPr>
          <a:xfrm>
            <a:off x="566928" y="3172968"/>
            <a:ext cx="621792" cy="621792"/>
          </a:xfrm>
          <a:prstGeom prst="ellipse">
            <a:avLst/>
          </a:prstGeom>
          <a:solidFill>
            <a:srgbClr val="1C7293"/>
          </a:solidFill>
        </p:spPr>
        <p:txBody>
          <a:bodyPr/>
          <a:p/>
        </p:txBody>
      </p:sp>
      <p:pic>
        <p:nvPicPr>
          <p:cNvPr id="10" name="Image 1" descr="icons/fingerprint.png"/>
          <p:cNvPicPr>
            <a:picLocks noChangeAspect="1"/>
          </p:cNvPicPr>
          <p:nvPr/>
        </p:nvPicPr>
        <p:blipFill>
          <a:blip r:embed="rId2"/>
          <a:stretch>
            <a:fillRect/>
          </a:stretch>
        </p:blipFill>
        <p:spPr>
          <a:xfrm>
            <a:off x="734812" y="3340852"/>
            <a:ext cx="286024" cy="286024"/>
          </a:xfrm>
          <a:prstGeom prst="rect">
            <a:avLst/>
          </a:prstGeom>
        </p:spPr>
      </p:pic>
      <p:sp>
        <p:nvSpPr>
          <p:cNvPr id="11" name="Text 7"/>
          <p:cNvSpPr/>
          <p:nvPr/>
        </p:nvSpPr>
        <p:spPr>
          <a:xfrm>
            <a:off x="1435608" y="3145536"/>
            <a:ext cx="2377440" cy="621792"/>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The Method</a:t>
            </a:r>
            <a:endParaRPr lang="en-US" sz="1650" dirty="0"/>
          </a:p>
        </p:txBody>
      </p:sp>
      <p:sp>
        <p:nvSpPr>
          <p:cNvPr id="12" name="Text 8"/>
          <p:cNvSpPr/>
          <p:nvPr/>
        </p:nvSpPr>
        <p:spPr>
          <a:xfrm>
            <a:off x="3950208" y="3099816"/>
            <a:ext cx="7674559" cy="1389888"/>
          </a:xfrm>
          <a:prstGeom prst="rect">
            <a:avLst/>
          </a:prstGeom>
          <a:noFill/>
        </p:spPr>
        <p:txBody>
          <a:bodyPr wrap="square" lIns="0" tIns="0" rIns="0" bIns="0" rtlCol="0" anchor="ctr"/>
          <a:lstStyle/>
          <a:p>
            <a:pPr marL="0" indent="0">
              <a:lnSpc>
                <a:spcPct val="122000"/>
              </a:lnSpc>
              <a:buNone/>
            </a:pPr>
            <a:r>
              <a:rPr lang="en-US" sz="1400" dirty="0">
                <a:solidFill>
                  <a:srgbClr val="22313F"/>
                </a:solidFill>
                <a:latin typeface="Calibri" panose="020F0502020204030204" pitchFamily="34" charset="0"/>
                <a:ea typeface="Calibri" panose="020F0502020204030204" pitchFamily="34" charset="-122"/>
                <a:cs typeface="Calibri" panose="020F0502020204030204" pitchFamily="34" charset="-120"/>
              </a:rPr>
              <a:t>Each image gets a 64-bit fingerprint: it's shrunk to 32×32, transformed to capture its rough light-and-dark structure, and reduced to 64 yes/no bits. Two images are called near-identical if their fingerprints differ by 6 bits or fewer.</a:t>
            </a:r>
            <a:endParaRPr lang="en-US" sz="1400" dirty="0"/>
          </a:p>
        </p:txBody>
      </p:sp>
      <p:sp>
        <p:nvSpPr>
          <p:cNvPr id="13" name="Shape 9"/>
          <p:cNvSpPr/>
          <p:nvPr/>
        </p:nvSpPr>
        <p:spPr>
          <a:xfrm>
            <a:off x="566928" y="4471416"/>
            <a:ext cx="11057839" cy="0"/>
          </a:xfrm>
          <a:prstGeom prst="line">
            <a:avLst/>
          </a:prstGeom>
          <a:noFill/>
          <a:ln w="12700">
            <a:solidFill>
              <a:srgbClr val="E1E8EE"/>
            </a:solidFill>
            <a:prstDash val="solid"/>
          </a:ln>
        </p:spPr>
        <p:txBody>
          <a:bodyPr/>
          <a:p/>
        </p:txBody>
      </p:sp>
      <p:sp>
        <p:nvSpPr>
          <p:cNvPr id="14" name="Shape 10"/>
          <p:cNvSpPr/>
          <p:nvPr/>
        </p:nvSpPr>
        <p:spPr>
          <a:xfrm>
            <a:off x="566928" y="4654296"/>
            <a:ext cx="621792" cy="621792"/>
          </a:xfrm>
          <a:prstGeom prst="ellipse">
            <a:avLst/>
          </a:prstGeom>
          <a:solidFill>
            <a:srgbClr val="1C7293"/>
          </a:solidFill>
        </p:spPr>
        <p:txBody>
          <a:bodyPr/>
          <a:p/>
        </p:txBody>
      </p:sp>
      <p:pic>
        <p:nvPicPr>
          <p:cNvPr id="15" name="Image 2" descr="icons/check.png"/>
          <p:cNvPicPr>
            <a:picLocks noChangeAspect="1"/>
          </p:cNvPicPr>
          <p:nvPr/>
        </p:nvPicPr>
        <p:blipFill>
          <a:blip r:embed="rId3"/>
          <a:stretch>
            <a:fillRect/>
          </a:stretch>
        </p:blipFill>
        <p:spPr>
          <a:xfrm>
            <a:off x="734812" y="4822180"/>
            <a:ext cx="286024" cy="286024"/>
          </a:xfrm>
          <a:prstGeom prst="rect">
            <a:avLst/>
          </a:prstGeom>
        </p:spPr>
      </p:pic>
      <p:sp>
        <p:nvSpPr>
          <p:cNvPr id="16" name="Text 11"/>
          <p:cNvSpPr/>
          <p:nvPr/>
        </p:nvSpPr>
        <p:spPr>
          <a:xfrm>
            <a:off x="1435608" y="4626864"/>
            <a:ext cx="2377440" cy="621792"/>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The Policy</a:t>
            </a:r>
            <a:endParaRPr lang="en-US" sz="1650" dirty="0"/>
          </a:p>
        </p:txBody>
      </p:sp>
      <p:sp>
        <p:nvSpPr>
          <p:cNvPr id="17" name="Text 12"/>
          <p:cNvSpPr/>
          <p:nvPr/>
        </p:nvSpPr>
        <p:spPr>
          <a:xfrm>
            <a:off x="3950208" y="4581144"/>
            <a:ext cx="7674559" cy="1389888"/>
          </a:xfrm>
          <a:prstGeom prst="rect">
            <a:avLst/>
          </a:prstGeom>
          <a:noFill/>
        </p:spPr>
        <p:txBody>
          <a:bodyPr wrap="square" lIns="0" tIns="0" rIns="0" bIns="0" rtlCol="0" anchor="ctr"/>
          <a:lstStyle/>
          <a:p>
            <a:pPr marL="0" indent="0">
              <a:lnSpc>
                <a:spcPct val="122000"/>
              </a:lnSpc>
              <a:buNone/>
            </a:pPr>
            <a:r>
              <a:rPr lang="en-US" sz="1400" dirty="0">
                <a:solidFill>
                  <a:srgbClr val="22313F"/>
                </a:solidFill>
                <a:latin typeface="Calibri" panose="020F0502020204030204" pitchFamily="34" charset="0"/>
                <a:ea typeface="Calibri" panose="020F0502020204030204" pitchFamily="34" charset="-122"/>
                <a:cs typeface="Calibri" panose="020F0502020204030204" pitchFamily="34" charset="-120"/>
              </a:rPr>
              <a:t>Flagged, not deleted. Duplicates are kept for training only — never used for validation or testing.</a:t>
            </a:r>
            <a:endParaRPr lang="en-US" sz="1400" dirty="0"/>
          </a:p>
        </p:txBody>
      </p:sp>
      <p:sp>
        <p:nvSpPr>
          <p:cNvPr id="18" name="Text 13"/>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9" name="Text 14"/>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12 / 42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1</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Removing the Chughtai Text Strips</a:t>
            </a:r>
            <a:endParaRPr lang="en-US" sz="3000" dirty="0"/>
          </a:p>
        </p:txBody>
      </p:sp>
      <p:sp>
        <p:nvSpPr>
          <p:cNvPr id="4" name="Text 2"/>
          <p:cNvSpPr/>
          <p:nvPr/>
        </p:nvSpPr>
        <p:spPr>
          <a:xfrm>
            <a:off x="566928" y="1600200"/>
            <a:ext cx="11057839" cy="457200"/>
          </a:xfrm>
          <a:prstGeom prst="rect">
            <a:avLst/>
          </a:prstGeom>
          <a:noFill/>
        </p:spPr>
        <p:txBody>
          <a:bodyPr wrap="square" lIns="0" tIns="0" rIns="0" bIns="0" rtlCol="0" anchor="ctr"/>
          <a:lstStyle/>
          <a:p>
            <a:pPr marL="0" indent="0">
              <a:buNone/>
            </a:pPr>
            <a:r>
              <a:rPr lang="en-US" sz="1500" dirty="0">
                <a:solidFill>
                  <a:srgbClr val="22313F"/>
                </a:solidFill>
                <a:latin typeface="Calibri" panose="020F0502020204030204" pitchFamily="34" charset="0"/>
                <a:ea typeface="Calibri" panose="020F0502020204030204" pitchFamily="34" charset="-122"/>
                <a:cs typeface="Calibri" panose="020F0502020204030204" pitchFamily="34" charset="-120"/>
              </a:rPr>
              <a:t>Every Chughtai image kept two bands of burned-in text that survived the fan crop:</a:t>
            </a:r>
            <a:endParaRPr lang="en-US" sz="1500" dirty="0"/>
          </a:p>
        </p:txBody>
      </p:sp>
      <p:sp>
        <p:nvSpPr>
          <p:cNvPr id="5" name="Shape 3"/>
          <p:cNvSpPr/>
          <p:nvPr/>
        </p:nvSpPr>
        <p:spPr>
          <a:xfrm>
            <a:off x="566928" y="2286000"/>
            <a:ext cx="5138928" cy="3108960"/>
          </a:xfrm>
          <a:prstGeom prst="roundRect">
            <a:avLst>
              <a:gd name="adj" fmla="val 2647"/>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6" name="Text 4"/>
          <p:cNvSpPr/>
          <p:nvPr/>
        </p:nvSpPr>
        <p:spPr>
          <a:xfrm>
            <a:off x="886968" y="2606040"/>
            <a:ext cx="2194560" cy="777240"/>
          </a:xfrm>
          <a:prstGeom prst="rect">
            <a:avLst/>
          </a:prstGeom>
          <a:noFill/>
        </p:spPr>
        <p:txBody>
          <a:bodyPr wrap="square" lIns="0" tIns="0" rIns="0" bIns="0" rtlCol="0" anchor="ctr"/>
          <a:lstStyle/>
          <a:p>
            <a:pPr marL="0" indent="0">
              <a:buNone/>
            </a:pPr>
            <a:r>
              <a:rPr lang="en-US" sz="4000" b="1" dirty="0">
                <a:solidFill>
                  <a:srgbClr val="1C7293"/>
                </a:solidFill>
                <a:latin typeface="Calibri" panose="020F0502020204030204" pitchFamily="34" charset="0"/>
                <a:ea typeface="Calibri" panose="020F0502020204030204" pitchFamily="34" charset="-122"/>
                <a:cs typeface="Calibri" panose="020F0502020204030204" pitchFamily="34" charset="-120"/>
              </a:rPr>
              <a:t>~14%</a:t>
            </a:r>
            <a:endParaRPr lang="en-US" sz="4000" dirty="0"/>
          </a:p>
        </p:txBody>
      </p:sp>
      <p:sp>
        <p:nvSpPr>
          <p:cNvPr id="7" name="Text 5"/>
          <p:cNvSpPr/>
          <p:nvPr/>
        </p:nvSpPr>
        <p:spPr>
          <a:xfrm>
            <a:off x="886968" y="3337560"/>
            <a:ext cx="2743200" cy="320040"/>
          </a:xfrm>
          <a:prstGeom prst="rect">
            <a:avLst/>
          </a:prstGeom>
          <a:noFill/>
        </p:spPr>
        <p:txBody>
          <a:bodyPr wrap="square" lIns="0" tIns="0" rIns="0" bIns="0" rtlCol="0" anchor="ctr"/>
          <a:lstStyle/>
          <a:p>
            <a:pPr marL="0" indent="0">
              <a:buNone/>
            </a:pPr>
            <a:r>
              <a:rPr lang="en-US" sz="1100" kern="0" spc="100" dirty="0">
                <a:solidFill>
                  <a:srgbClr val="60707E"/>
                </a:solidFill>
                <a:latin typeface="Calibri" panose="020F0502020204030204" pitchFamily="34" charset="0"/>
                <a:ea typeface="Calibri" panose="020F0502020204030204" pitchFamily="34" charset="-122"/>
                <a:cs typeface="Calibri" panose="020F0502020204030204" pitchFamily="34" charset="-120"/>
              </a:rPr>
              <a:t>of image HEIGHT</a:t>
            </a:r>
            <a:endParaRPr lang="en-US" sz="1100" dirty="0"/>
          </a:p>
        </p:txBody>
      </p:sp>
      <p:sp>
        <p:nvSpPr>
          <p:cNvPr id="8" name="Text 6"/>
          <p:cNvSpPr/>
          <p:nvPr/>
        </p:nvSpPr>
        <p:spPr>
          <a:xfrm>
            <a:off x="886968" y="3749040"/>
            <a:ext cx="4498848" cy="41148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Top Strip</a:t>
            </a:r>
            <a:endParaRPr lang="en-US" sz="1650" dirty="0"/>
          </a:p>
        </p:txBody>
      </p:sp>
      <p:sp>
        <p:nvSpPr>
          <p:cNvPr id="9" name="Text 7"/>
          <p:cNvSpPr/>
          <p:nvPr/>
        </p:nvSpPr>
        <p:spPr>
          <a:xfrm>
            <a:off x="886968" y="4206240"/>
            <a:ext cx="4498848" cy="100584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Partial patient name, timestamp, and machine mode.</a:t>
            </a:r>
            <a:endParaRPr lang="en-US" sz="1450" dirty="0"/>
          </a:p>
        </p:txBody>
      </p:sp>
      <p:sp>
        <p:nvSpPr>
          <p:cNvPr id="10" name="Shape 8"/>
          <p:cNvSpPr/>
          <p:nvPr/>
        </p:nvSpPr>
        <p:spPr>
          <a:xfrm>
            <a:off x="5980176" y="2286000"/>
            <a:ext cx="5138928" cy="3108960"/>
          </a:xfrm>
          <a:prstGeom prst="roundRect">
            <a:avLst>
              <a:gd name="adj" fmla="val 2647"/>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1" name="Text 9"/>
          <p:cNvSpPr/>
          <p:nvPr/>
        </p:nvSpPr>
        <p:spPr>
          <a:xfrm>
            <a:off x="6300216" y="2606040"/>
            <a:ext cx="2194560" cy="777240"/>
          </a:xfrm>
          <a:prstGeom prst="rect">
            <a:avLst/>
          </a:prstGeom>
          <a:noFill/>
        </p:spPr>
        <p:txBody>
          <a:bodyPr wrap="square" lIns="0" tIns="0" rIns="0" bIns="0" rtlCol="0" anchor="ctr"/>
          <a:lstStyle/>
          <a:p>
            <a:pPr marL="0" indent="0">
              <a:buNone/>
            </a:pPr>
            <a:r>
              <a:rPr lang="en-US" sz="4000" b="1" dirty="0">
                <a:solidFill>
                  <a:srgbClr val="1C7293"/>
                </a:solidFill>
                <a:latin typeface="Calibri" panose="020F0502020204030204" pitchFamily="34" charset="0"/>
                <a:ea typeface="Calibri" panose="020F0502020204030204" pitchFamily="34" charset="-122"/>
                <a:cs typeface="Calibri" panose="020F0502020204030204" pitchFamily="34" charset="-120"/>
              </a:rPr>
              <a:t>~20%</a:t>
            </a:r>
            <a:endParaRPr lang="en-US" sz="4000" dirty="0"/>
          </a:p>
        </p:txBody>
      </p:sp>
      <p:sp>
        <p:nvSpPr>
          <p:cNvPr id="12" name="Text 10"/>
          <p:cNvSpPr/>
          <p:nvPr/>
        </p:nvSpPr>
        <p:spPr>
          <a:xfrm>
            <a:off x="6300216" y="3337560"/>
            <a:ext cx="2743200" cy="320040"/>
          </a:xfrm>
          <a:prstGeom prst="rect">
            <a:avLst/>
          </a:prstGeom>
          <a:noFill/>
        </p:spPr>
        <p:txBody>
          <a:bodyPr wrap="square" lIns="0" tIns="0" rIns="0" bIns="0" rtlCol="0" anchor="ctr"/>
          <a:lstStyle/>
          <a:p>
            <a:pPr marL="0" indent="0">
              <a:buNone/>
            </a:pPr>
            <a:r>
              <a:rPr lang="en-US" sz="1100" kern="0" spc="100" dirty="0">
                <a:solidFill>
                  <a:srgbClr val="60707E"/>
                </a:solidFill>
                <a:latin typeface="Calibri" panose="020F0502020204030204" pitchFamily="34" charset="0"/>
                <a:ea typeface="Calibri" panose="020F0502020204030204" pitchFamily="34" charset="-122"/>
                <a:cs typeface="Calibri" panose="020F0502020204030204" pitchFamily="34" charset="-120"/>
              </a:rPr>
              <a:t>of image WIDTH</a:t>
            </a:r>
            <a:endParaRPr lang="en-US" sz="1100" dirty="0"/>
          </a:p>
        </p:txBody>
      </p:sp>
      <p:sp>
        <p:nvSpPr>
          <p:cNvPr id="13" name="Text 11"/>
          <p:cNvSpPr/>
          <p:nvPr/>
        </p:nvSpPr>
        <p:spPr>
          <a:xfrm>
            <a:off x="6300216" y="3749040"/>
            <a:ext cx="4498848" cy="41148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Right Strip</a:t>
            </a:r>
            <a:endParaRPr lang="en-US" sz="1650" dirty="0"/>
          </a:p>
        </p:txBody>
      </p:sp>
      <p:sp>
        <p:nvSpPr>
          <p:cNvPr id="14" name="Text 12"/>
          <p:cNvSpPr/>
          <p:nvPr/>
        </p:nvSpPr>
        <p:spPr>
          <a:xfrm>
            <a:off x="6300216" y="4206240"/>
            <a:ext cx="4498848" cy="100584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Depth scale numbers, the organ label "GB", frame rate, gain, and probe settings.</a:t>
            </a:r>
            <a:endParaRPr lang="en-US" sz="1450" dirty="0"/>
          </a:p>
        </p:txBody>
      </p:sp>
      <p:sp>
        <p:nvSpPr>
          <p:cNvPr id="15" name="Text 13"/>
          <p:cNvSpPr/>
          <p:nvPr/>
        </p:nvSpPr>
        <p:spPr>
          <a:xfrm>
            <a:off x="566928" y="5596128"/>
            <a:ext cx="11057839" cy="365760"/>
          </a:xfrm>
          <a:prstGeom prst="rect">
            <a:avLst/>
          </a:prstGeom>
          <a:noFill/>
        </p:spPr>
        <p:txBody>
          <a:bodyPr wrap="square" lIns="0" tIns="0" rIns="0" bIns="0" rtlCol="0" anchor="ctr"/>
          <a:lstStyle/>
          <a:p>
            <a:pPr marL="0" indent="0">
              <a:buNone/>
            </a:pPr>
            <a:r>
              <a:rPr lang="en-US" sz="1350" i="1" dirty="0">
                <a:solidFill>
                  <a:srgbClr val="60707E"/>
                </a:solidFill>
                <a:latin typeface="Calibri" panose="020F0502020204030204" pitchFamily="34" charset="0"/>
                <a:ea typeface="Calibri" panose="020F0502020204030204" pitchFamily="34" charset="-122"/>
                <a:cs typeface="Calibri" panose="020F0502020204030204" pitchFamily="34" charset="-120"/>
              </a:rPr>
              <a:t>Both strips were removed from every Chughtai image.</a:t>
            </a:r>
            <a:endParaRPr lang="en-US" sz="1350" dirty="0"/>
          </a:p>
        </p:txBody>
      </p:sp>
      <p:sp>
        <p:nvSpPr>
          <p:cNvPr id="16" name="Text 14"/>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7" name="Text 15"/>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13 / 42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RESULT · STAGE 1</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Before &amp; After: Text Strip Removal</a:t>
            </a:r>
            <a:endParaRPr lang="en-US" sz="3000" dirty="0"/>
          </a:p>
        </p:txBody>
      </p:sp>
      <p:sp>
        <p:nvSpPr>
          <p:cNvPr id="4" name="Shape 2"/>
          <p:cNvSpPr/>
          <p:nvPr/>
        </p:nvSpPr>
        <p:spPr>
          <a:xfrm>
            <a:off x="566928"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5" name="Image 0" descr="unpacked/ppt/media/image6.png"/>
          <p:cNvPicPr>
            <a:picLocks noChangeAspect="1"/>
          </p:cNvPicPr>
          <p:nvPr/>
        </p:nvPicPr>
        <p:blipFill>
          <a:blip r:embed="rId1"/>
          <a:stretch>
            <a:fillRect/>
          </a:stretch>
        </p:blipFill>
        <p:spPr>
          <a:xfrm>
            <a:off x="1505749" y="1892808"/>
            <a:ext cx="3261286" cy="3986784"/>
          </a:xfrm>
          <a:prstGeom prst="rect">
            <a:avLst/>
          </a:prstGeom>
        </p:spPr>
      </p:pic>
      <p:sp>
        <p:nvSpPr>
          <p:cNvPr id="6" name="Shape 3"/>
          <p:cNvSpPr/>
          <p:nvPr/>
        </p:nvSpPr>
        <p:spPr>
          <a:xfrm>
            <a:off x="786384" y="1911096"/>
            <a:ext cx="1417320" cy="310896"/>
          </a:xfrm>
          <a:prstGeom prst="roundRect">
            <a:avLst>
              <a:gd name="adj" fmla="val 50000"/>
            </a:avLst>
          </a:prstGeom>
          <a:solidFill>
            <a:srgbClr val="70808C"/>
          </a:solidFill>
        </p:spPr>
        <p:txBody>
          <a:bodyPr/>
          <a:p/>
        </p:txBody>
      </p:sp>
      <p:sp>
        <p:nvSpPr>
          <p:cNvPr id="7" name="Text 4"/>
          <p:cNvSpPr/>
          <p:nvPr/>
        </p:nvSpPr>
        <p:spPr>
          <a:xfrm>
            <a:off x="786384"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BEFORE</a:t>
            </a:r>
            <a:endParaRPr lang="en-US" sz="1150" dirty="0"/>
          </a:p>
        </p:txBody>
      </p:sp>
      <p:sp>
        <p:nvSpPr>
          <p:cNvPr id="8" name="Shape 5"/>
          <p:cNvSpPr/>
          <p:nvPr/>
        </p:nvSpPr>
        <p:spPr>
          <a:xfrm>
            <a:off x="6016752"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9" name="Image 1" descr="unpacked/ppt/media/image5.png"/>
          <p:cNvPicPr>
            <a:picLocks noChangeAspect="1"/>
          </p:cNvPicPr>
          <p:nvPr/>
        </p:nvPicPr>
        <p:blipFill>
          <a:blip r:embed="rId2"/>
          <a:stretch>
            <a:fillRect/>
          </a:stretch>
        </p:blipFill>
        <p:spPr>
          <a:xfrm>
            <a:off x="7070115" y="1892808"/>
            <a:ext cx="3032202" cy="3986784"/>
          </a:xfrm>
          <a:prstGeom prst="rect">
            <a:avLst/>
          </a:prstGeom>
        </p:spPr>
      </p:pic>
      <p:sp>
        <p:nvSpPr>
          <p:cNvPr id="10" name="Shape 6"/>
          <p:cNvSpPr/>
          <p:nvPr/>
        </p:nvSpPr>
        <p:spPr>
          <a:xfrm>
            <a:off x="6236208" y="1911096"/>
            <a:ext cx="1417320" cy="310896"/>
          </a:xfrm>
          <a:prstGeom prst="roundRect">
            <a:avLst>
              <a:gd name="adj" fmla="val 50000"/>
            </a:avLst>
          </a:prstGeom>
          <a:solidFill>
            <a:srgbClr val="1C7293"/>
          </a:solidFill>
        </p:spPr>
        <p:txBody>
          <a:bodyPr/>
          <a:p/>
        </p:txBody>
      </p:sp>
      <p:sp>
        <p:nvSpPr>
          <p:cNvPr id="11" name="Text 7"/>
          <p:cNvSpPr/>
          <p:nvPr/>
        </p:nvSpPr>
        <p:spPr>
          <a:xfrm>
            <a:off x="6236208"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AFTER</a:t>
            </a:r>
            <a:endParaRPr lang="en-US" sz="1150" dirty="0"/>
          </a:p>
        </p:txBody>
      </p:sp>
      <p:sp>
        <p:nvSpPr>
          <p:cNvPr id="12" name="Text 8"/>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3" name="Text 9"/>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14 / 42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2</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Erasing the Calipers</a:t>
            </a:r>
            <a:endParaRPr lang="en-US" sz="3000" dirty="0"/>
          </a:p>
        </p:txBody>
      </p:sp>
      <p:sp>
        <p:nvSpPr>
          <p:cNvPr id="4" name="Text 2"/>
          <p:cNvSpPr/>
          <p:nvPr/>
        </p:nvSpPr>
        <p:spPr>
          <a:xfrm>
            <a:off x="566928" y="1554480"/>
            <a:ext cx="11057839" cy="457200"/>
          </a:xfrm>
          <a:prstGeom prst="rect">
            <a:avLst/>
          </a:prstGeom>
          <a:noFill/>
        </p:spPr>
        <p:txBody>
          <a:bodyPr wrap="square" lIns="0" tIns="0" rIns="0" bIns="0" rtlCol="0" anchor="ctr"/>
          <a:lstStyle/>
          <a:p>
            <a:pPr marL="0" indent="0">
              <a:buNone/>
            </a:pPr>
            <a:r>
              <a:rPr lang="en-US" sz="1500" dirty="0">
                <a:solidFill>
                  <a:srgbClr val="22313F"/>
                </a:solidFill>
                <a:latin typeface="Calibri" panose="020F0502020204030204" pitchFamily="34" charset="0"/>
                <a:ea typeface="Calibri" panose="020F0502020204030204" pitchFamily="34" charset="-122"/>
                <a:cs typeface="Calibri" panose="020F0502020204030204" pitchFamily="34" charset="-120"/>
              </a:rPr>
              <a:t>Calipers sit inside the fan, so cropping alone can't remove them. Instead:</a:t>
            </a:r>
            <a:endParaRPr lang="en-US" sz="1500" dirty="0"/>
          </a:p>
        </p:txBody>
      </p:sp>
      <p:sp>
        <p:nvSpPr>
          <p:cNvPr id="5" name="Shape 3"/>
          <p:cNvSpPr/>
          <p:nvPr/>
        </p:nvSpPr>
        <p:spPr>
          <a:xfrm>
            <a:off x="566928" y="2148840"/>
            <a:ext cx="566928" cy="566928"/>
          </a:xfrm>
          <a:prstGeom prst="ellipse">
            <a:avLst/>
          </a:prstGeom>
          <a:solidFill>
            <a:srgbClr val="1C7293"/>
          </a:solidFill>
        </p:spPr>
        <p:txBody>
          <a:bodyPr/>
          <a:p/>
        </p:txBody>
      </p:sp>
      <p:pic>
        <p:nvPicPr>
          <p:cNvPr id="6" name="Image 0" descr="icons/search.png"/>
          <p:cNvPicPr>
            <a:picLocks noChangeAspect="1"/>
          </p:cNvPicPr>
          <p:nvPr/>
        </p:nvPicPr>
        <p:blipFill>
          <a:blip r:embed="rId1"/>
          <a:stretch>
            <a:fillRect/>
          </a:stretch>
        </p:blipFill>
        <p:spPr>
          <a:xfrm>
            <a:off x="719999" y="2301911"/>
            <a:ext cx="260787" cy="260787"/>
          </a:xfrm>
          <a:prstGeom prst="rect">
            <a:avLst/>
          </a:prstGeom>
        </p:spPr>
      </p:pic>
      <p:sp>
        <p:nvSpPr>
          <p:cNvPr id="7" name="Shape 4"/>
          <p:cNvSpPr/>
          <p:nvPr/>
        </p:nvSpPr>
        <p:spPr>
          <a:xfrm>
            <a:off x="986228" y="2568140"/>
            <a:ext cx="238110" cy="238110"/>
          </a:xfrm>
          <a:prstGeom prst="ellipse">
            <a:avLst/>
          </a:prstGeom>
          <a:solidFill>
            <a:srgbClr val="0B2A4A"/>
          </a:solidFill>
          <a:ln w="19050">
            <a:solidFill>
              <a:srgbClr val="FFFFFF"/>
            </a:solidFill>
            <a:prstDash val="solid"/>
          </a:ln>
        </p:spPr>
        <p:txBody>
          <a:bodyPr/>
          <a:p/>
        </p:txBody>
      </p:sp>
      <p:sp>
        <p:nvSpPr>
          <p:cNvPr id="8" name="Text 5"/>
          <p:cNvSpPr/>
          <p:nvPr/>
        </p:nvSpPr>
        <p:spPr>
          <a:xfrm>
            <a:off x="986228" y="2568140"/>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50" dirty="0"/>
          </a:p>
        </p:txBody>
      </p:sp>
      <p:sp>
        <p:nvSpPr>
          <p:cNvPr id="9" name="Text 6"/>
          <p:cNvSpPr/>
          <p:nvPr/>
        </p:nvSpPr>
        <p:spPr>
          <a:xfrm>
            <a:off x="1435608" y="2093976"/>
            <a:ext cx="228600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Find the markers</a:t>
            </a:r>
            <a:endParaRPr lang="en-US" sz="1500" dirty="0"/>
          </a:p>
        </p:txBody>
      </p:sp>
      <p:sp>
        <p:nvSpPr>
          <p:cNvPr id="10" name="Text 7"/>
          <p:cNvSpPr/>
          <p:nvPr/>
        </p:nvSpPr>
        <p:spPr>
          <a:xfrm>
            <a:off x="3813048" y="2093976"/>
            <a:ext cx="7811719" cy="676656"/>
          </a:xfrm>
          <a:prstGeom prst="rect">
            <a:avLst/>
          </a:prstGeom>
          <a:noFill/>
        </p:spPr>
        <p:txBody>
          <a:bodyPr wrap="square" lIns="0" tIns="0" rIns="0" bIns="0" rtlCol="0" anchor="ctr"/>
          <a:lstStyle/>
          <a:p>
            <a:pPr marL="0" indent="0">
              <a:lnSpc>
                <a:spcPct val="115000"/>
              </a:lnSpc>
              <a:buNone/>
            </a:pPr>
            <a:r>
              <a:rPr lang="en-US" sz="1300" dirty="0">
                <a:solidFill>
                  <a:srgbClr val="22313F"/>
                </a:solidFill>
                <a:latin typeface="Calibri" panose="020F0502020204030204" pitchFamily="34" charset="0"/>
                <a:ea typeface="Calibri" panose="020F0502020204030204" pitchFamily="34" charset="-122"/>
                <a:cs typeface="Calibri" panose="020F0502020204030204" pitchFamily="34" charset="-120"/>
              </a:rPr>
              <a:t>Threshold in HSV colour space to find both white markers (high brightness, low saturation) and coloured marker lines (high saturation).</a:t>
            </a:r>
            <a:endParaRPr lang="en-US" sz="1300" dirty="0"/>
          </a:p>
        </p:txBody>
      </p:sp>
      <p:sp>
        <p:nvSpPr>
          <p:cNvPr id="11" name="Shape 8"/>
          <p:cNvSpPr/>
          <p:nvPr/>
        </p:nvSpPr>
        <p:spPr>
          <a:xfrm>
            <a:off x="566928" y="3044952"/>
            <a:ext cx="11057839" cy="0"/>
          </a:xfrm>
          <a:prstGeom prst="line">
            <a:avLst/>
          </a:prstGeom>
          <a:noFill/>
          <a:ln w="12700">
            <a:solidFill>
              <a:srgbClr val="E1E8EE"/>
            </a:solidFill>
            <a:prstDash val="solid"/>
          </a:ln>
        </p:spPr>
        <p:txBody>
          <a:bodyPr/>
          <a:p/>
        </p:txBody>
      </p:sp>
      <p:sp>
        <p:nvSpPr>
          <p:cNvPr id="12" name="Shape 9"/>
          <p:cNvSpPr/>
          <p:nvPr/>
        </p:nvSpPr>
        <p:spPr>
          <a:xfrm>
            <a:off x="566928" y="3172968"/>
            <a:ext cx="566928" cy="566928"/>
          </a:xfrm>
          <a:prstGeom prst="ellipse">
            <a:avLst/>
          </a:prstGeom>
          <a:solidFill>
            <a:srgbClr val="1C7293"/>
          </a:solidFill>
        </p:spPr>
        <p:txBody>
          <a:bodyPr/>
          <a:p/>
        </p:txBody>
      </p:sp>
      <p:pic>
        <p:nvPicPr>
          <p:cNvPr id="13" name="Image 1" descr="icons/filter.png"/>
          <p:cNvPicPr>
            <a:picLocks noChangeAspect="1"/>
          </p:cNvPicPr>
          <p:nvPr/>
        </p:nvPicPr>
        <p:blipFill>
          <a:blip r:embed="rId2"/>
          <a:stretch>
            <a:fillRect/>
          </a:stretch>
        </p:blipFill>
        <p:spPr>
          <a:xfrm>
            <a:off x="719999" y="3326039"/>
            <a:ext cx="260787" cy="260787"/>
          </a:xfrm>
          <a:prstGeom prst="rect">
            <a:avLst/>
          </a:prstGeom>
        </p:spPr>
      </p:pic>
      <p:sp>
        <p:nvSpPr>
          <p:cNvPr id="14" name="Shape 10"/>
          <p:cNvSpPr/>
          <p:nvPr/>
        </p:nvSpPr>
        <p:spPr>
          <a:xfrm>
            <a:off x="986228" y="3592268"/>
            <a:ext cx="238110" cy="238110"/>
          </a:xfrm>
          <a:prstGeom prst="ellipse">
            <a:avLst/>
          </a:prstGeom>
          <a:solidFill>
            <a:srgbClr val="0B2A4A"/>
          </a:solidFill>
          <a:ln w="19050">
            <a:solidFill>
              <a:srgbClr val="FFFFFF"/>
            </a:solidFill>
            <a:prstDash val="solid"/>
          </a:ln>
        </p:spPr>
        <p:txBody>
          <a:bodyPr/>
          <a:p/>
        </p:txBody>
      </p:sp>
      <p:sp>
        <p:nvSpPr>
          <p:cNvPr id="15" name="Text 11"/>
          <p:cNvSpPr/>
          <p:nvPr/>
        </p:nvSpPr>
        <p:spPr>
          <a:xfrm>
            <a:off x="986228" y="3592268"/>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50" dirty="0"/>
          </a:p>
        </p:txBody>
      </p:sp>
      <p:sp>
        <p:nvSpPr>
          <p:cNvPr id="16" name="Text 12"/>
          <p:cNvSpPr/>
          <p:nvPr/>
        </p:nvSpPr>
        <p:spPr>
          <a:xfrm>
            <a:off x="1435608" y="3118104"/>
            <a:ext cx="228600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Filter out anatomy</a:t>
            </a:r>
            <a:endParaRPr lang="en-US" sz="1500" dirty="0"/>
          </a:p>
        </p:txBody>
      </p:sp>
      <p:sp>
        <p:nvSpPr>
          <p:cNvPr id="17" name="Text 13"/>
          <p:cNvSpPr/>
          <p:nvPr/>
        </p:nvSpPr>
        <p:spPr>
          <a:xfrm>
            <a:off x="3813048" y="3118104"/>
            <a:ext cx="7811719" cy="676656"/>
          </a:xfrm>
          <a:prstGeom prst="rect">
            <a:avLst/>
          </a:prstGeom>
          <a:noFill/>
        </p:spPr>
        <p:txBody>
          <a:bodyPr wrap="square" lIns="0" tIns="0" rIns="0" bIns="0" rtlCol="0" anchor="ctr"/>
          <a:lstStyle/>
          <a:p>
            <a:pPr marL="0" indent="0">
              <a:lnSpc>
                <a:spcPct val="115000"/>
              </a:lnSpc>
              <a:buNone/>
            </a:pPr>
            <a:r>
              <a:rPr lang="en-US" sz="1300" dirty="0">
                <a:solidFill>
                  <a:srgbClr val="22313F"/>
                </a:solidFill>
                <a:latin typeface="Calibri" panose="020F0502020204030204" pitchFamily="34" charset="0"/>
                <a:ea typeface="Calibri" panose="020F0502020204030204" pitchFamily="34" charset="-122"/>
                <a:cs typeface="Calibri" panose="020F0502020204030204" pitchFamily="34" charset="-120"/>
              </a:rPr>
              <a:t>Discard any blob larger than 300 pixels, since those are anatomy rather than annotation.</a:t>
            </a:r>
            <a:endParaRPr lang="en-US" sz="1300" dirty="0"/>
          </a:p>
        </p:txBody>
      </p:sp>
      <p:sp>
        <p:nvSpPr>
          <p:cNvPr id="18" name="Shape 14"/>
          <p:cNvSpPr/>
          <p:nvPr/>
        </p:nvSpPr>
        <p:spPr>
          <a:xfrm>
            <a:off x="566928" y="4069080"/>
            <a:ext cx="11057839" cy="0"/>
          </a:xfrm>
          <a:prstGeom prst="line">
            <a:avLst/>
          </a:prstGeom>
          <a:noFill/>
          <a:ln w="12700">
            <a:solidFill>
              <a:srgbClr val="E1E8EE"/>
            </a:solidFill>
            <a:prstDash val="solid"/>
          </a:ln>
        </p:spPr>
        <p:txBody>
          <a:bodyPr/>
          <a:p/>
        </p:txBody>
      </p:sp>
      <p:sp>
        <p:nvSpPr>
          <p:cNvPr id="19" name="Shape 15"/>
          <p:cNvSpPr/>
          <p:nvPr/>
        </p:nvSpPr>
        <p:spPr>
          <a:xfrm>
            <a:off x="566928" y="4197096"/>
            <a:ext cx="566928" cy="566928"/>
          </a:xfrm>
          <a:prstGeom prst="ellipse">
            <a:avLst/>
          </a:prstGeom>
          <a:solidFill>
            <a:srgbClr val="1C7293"/>
          </a:solidFill>
        </p:spPr>
        <p:txBody>
          <a:bodyPr/>
          <a:p/>
        </p:txBody>
      </p:sp>
      <p:pic>
        <p:nvPicPr>
          <p:cNvPr id="20" name="Image 2" descr="icons/layers.png"/>
          <p:cNvPicPr>
            <a:picLocks noChangeAspect="1"/>
          </p:cNvPicPr>
          <p:nvPr/>
        </p:nvPicPr>
        <p:blipFill>
          <a:blip r:embed="rId3"/>
          <a:stretch>
            <a:fillRect/>
          </a:stretch>
        </p:blipFill>
        <p:spPr>
          <a:xfrm>
            <a:off x="719999" y="4350167"/>
            <a:ext cx="260787" cy="260787"/>
          </a:xfrm>
          <a:prstGeom prst="rect">
            <a:avLst/>
          </a:prstGeom>
        </p:spPr>
      </p:pic>
      <p:sp>
        <p:nvSpPr>
          <p:cNvPr id="21" name="Shape 16"/>
          <p:cNvSpPr/>
          <p:nvPr/>
        </p:nvSpPr>
        <p:spPr>
          <a:xfrm>
            <a:off x="986228" y="4616396"/>
            <a:ext cx="238110" cy="238110"/>
          </a:xfrm>
          <a:prstGeom prst="ellipse">
            <a:avLst/>
          </a:prstGeom>
          <a:solidFill>
            <a:srgbClr val="0B2A4A"/>
          </a:solidFill>
          <a:ln w="19050">
            <a:solidFill>
              <a:srgbClr val="FFFFFF"/>
            </a:solidFill>
            <a:prstDash val="solid"/>
          </a:ln>
        </p:spPr>
        <p:txBody>
          <a:bodyPr/>
          <a:p/>
        </p:txBody>
      </p:sp>
      <p:sp>
        <p:nvSpPr>
          <p:cNvPr id="22" name="Text 17"/>
          <p:cNvSpPr/>
          <p:nvPr/>
        </p:nvSpPr>
        <p:spPr>
          <a:xfrm>
            <a:off x="986228" y="4616396"/>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50" dirty="0"/>
          </a:p>
        </p:txBody>
      </p:sp>
      <p:sp>
        <p:nvSpPr>
          <p:cNvPr id="23" name="Text 18"/>
          <p:cNvSpPr/>
          <p:nvPr/>
        </p:nvSpPr>
        <p:spPr>
          <a:xfrm>
            <a:off x="1435608" y="4142232"/>
            <a:ext cx="228600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Widen the mask</a:t>
            </a:r>
            <a:endParaRPr lang="en-US" sz="1500" dirty="0"/>
          </a:p>
        </p:txBody>
      </p:sp>
      <p:sp>
        <p:nvSpPr>
          <p:cNvPr id="24" name="Text 19"/>
          <p:cNvSpPr/>
          <p:nvPr/>
        </p:nvSpPr>
        <p:spPr>
          <a:xfrm>
            <a:off x="3813048" y="4142232"/>
            <a:ext cx="7811719" cy="676656"/>
          </a:xfrm>
          <a:prstGeom prst="rect">
            <a:avLst/>
          </a:prstGeom>
          <a:noFill/>
        </p:spPr>
        <p:txBody>
          <a:bodyPr wrap="square" lIns="0" tIns="0" rIns="0" bIns="0" rtlCol="0" anchor="ctr"/>
          <a:lstStyle/>
          <a:p>
            <a:pPr marL="0" indent="0">
              <a:lnSpc>
                <a:spcPct val="115000"/>
              </a:lnSpc>
              <a:buNone/>
            </a:pPr>
            <a:r>
              <a:rPr lang="en-US" sz="1300" dirty="0">
                <a:solidFill>
                  <a:srgbClr val="22313F"/>
                </a:solidFill>
                <a:latin typeface="Calibri" panose="020F0502020204030204" pitchFamily="34" charset="0"/>
                <a:ea typeface="Calibri" panose="020F0502020204030204" pitchFamily="34" charset="-122"/>
                <a:cs typeface="Calibri" panose="020F0502020204030204" pitchFamily="34" charset="-120"/>
              </a:rPr>
              <a:t>Dilate the mask slightly so marker edges are fully covered.</a:t>
            </a:r>
            <a:endParaRPr lang="en-US" sz="1300" dirty="0"/>
          </a:p>
        </p:txBody>
      </p:sp>
      <p:sp>
        <p:nvSpPr>
          <p:cNvPr id="25" name="Shape 20"/>
          <p:cNvSpPr/>
          <p:nvPr/>
        </p:nvSpPr>
        <p:spPr>
          <a:xfrm>
            <a:off x="566928" y="5093208"/>
            <a:ext cx="11057839" cy="0"/>
          </a:xfrm>
          <a:prstGeom prst="line">
            <a:avLst/>
          </a:prstGeom>
          <a:noFill/>
          <a:ln w="12700">
            <a:solidFill>
              <a:srgbClr val="E1E8EE"/>
            </a:solidFill>
            <a:prstDash val="solid"/>
          </a:ln>
        </p:spPr>
        <p:txBody>
          <a:bodyPr/>
          <a:p/>
        </p:txBody>
      </p:sp>
      <p:sp>
        <p:nvSpPr>
          <p:cNvPr id="26" name="Shape 21"/>
          <p:cNvSpPr/>
          <p:nvPr/>
        </p:nvSpPr>
        <p:spPr>
          <a:xfrm>
            <a:off x="566928" y="5221224"/>
            <a:ext cx="566928" cy="566928"/>
          </a:xfrm>
          <a:prstGeom prst="ellipse">
            <a:avLst/>
          </a:prstGeom>
          <a:solidFill>
            <a:srgbClr val="1C7293"/>
          </a:solidFill>
        </p:spPr>
        <p:txBody>
          <a:bodyPr/>
          <a:p/>
        </p:txBody>
      </p:sp>
      <p:pic>
        <p:nvPicPr>
          <p:cNvPr id="27" name="Image 3" descr="icons/magic.png"/>
          <p:cNvPicPr>
            <a:picLocks noChangeAspect="1"/>
          </p:cNvPicPr>
          <p:nvPr/>
        </p:nvPicPr>
        <p:blipFill>
          <a:blip r:embed="rId4"/>
          <a:stretch>
            <a:fillRect/>
          </a:stretch>
        </p:blipFill>
        <p:spPr>
          <a:xfrm>
            <a:off x="719999" y="5374295"/>
            <a:ext cx="260787" cy="260787"/>
          </a:xfrm>
          <a:prstGeom prst="rect">
            <a:avLst/>
          </a:prstGeom>
        </p:spPr>
      </p:pic>
      <p:sp>
        <p:nvSpPr>
          <p:cNvPr id="28" name="Shape 22"/>
          <p:cNvSpPr/>
          <p:nvPr/>
        </p:nvSpPr>
        <p:spPr>
          <a:xfrm>
            <a:off x="986228" y="5640524"/>
            <a:ext cx="238110" cy="238110"/>
          </a:xfrm>
          <a:prstGeom prst="ellipse">
            <a:avLst/>
          </a:prstGeom>
          <a:solidFill>
            <a:srgbClr val="0B2A4A"/>
          </a:solidFill>
          <a:ln w="19050">
            <a:solidFill>
              <a:srgbClr val="FFFFFF"/>
            </a:solidFill>
            <a:prstDash val="solid"/>
          </a:ln>
        </p:spPr>
        <p:txBody>
          <a:bodyPr/>
          <a:p/>
        </p:txBody>
      </p:sp>
      <p:sp>
        <p:nvSpPr>
          <p:cNvPr id="29" name="Text 23"/>
          <p:cNvSpPr/>
          <p:nvPr/>
        </p:nvSpPr>
        <p:spPr>
          <a:xfrm>
            <a:off x="986228" y="5640524"/>
            <a:ext cx="238110" cy="23811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50" dirty="0"/>
          </a:p>
        </p:txBody>
      </p:sp>
      <p:sp>
        <p:nvSpPr>
          <p:cNvPr id="30" name="Text 24"/>
          <p:cNvSpPr/>
          <p:nvPr/>
        </p:nvSpPr>
        <p:spPr>
          <a:xfrm>
            <a:off x="1435608" y="5166360"/>
            <a:ext cx="2286000" cy="676656"/>
          </a:xfrm>
          <a:prstGeom prst="rect">
            <a:avLst/>
          </a:prstGeom>
          <a:noFill/>
        </p:spPr>
        <p:txBody>
          <a:bodyPr wrap="square" lIns="0" tIns="0" rIns="0" bIns="0" rtlCol="0" anchor="ctr"/>
          <a:lstStyle/>
          <a:p>
            <a:pPr marL="0" indent="0">
              <a:buNone/>
            </a:pPr>
            <a:r>
              <a:rPr lang="en-US" sz="1500" b="1" dirty="0">
                <a:solidFill>
                  <a:srgbClr val="0B2A4A"/>
                </a:solidFill>
                <a:latin typeface="Calibri" panose="020F0502020204030204" pitchFamily="34" charset="0"/>
                <a:ea typeface="Calibri" panose="020F0502020204030204" pitchFamily="34" charset="-122"/>
                <a:cs typeface="Calibri" panose="020F0502020204030204" pitchFamily="34" charset="-120"/>
              </a:rPr>
              <a:t>Inpaint the gaps</a:t>
            </a:r>
            <a:endParaRPr lang="en-US" sz="1500" dirty="0"/>
          </a:p>
        </p:txBody>
      </p:sp>
      <p:sp>
        <p:nvSpPr>
          <p:cNvPr id="31" name="Text 25"/>
          <p:cNvSpPr/>
          <p:nvPr/>
        </p:nvSpPr>
        <p:spPr>
          <a:xfrm>
            <a:off x="3813048" y="5166360"/>
            <a:ext cx="7811719" cy="676656"/>
          </a:xfrm>
          <a:prstGeom prst="rect">
            <a:avLst/>
          </a:prstGeom>
          <a:noFill/>
        </p:spPr>
        <p:txBody>
          <a:bodyPr wrap="square" lIns="0" tIns="0" rIns="0" bIns="0" rtlCol="0" anchor="ctr"/>
          <a:lstStyle/>
          <a:p>
            <a:pPr marL="0" indent="0">
              <a:lnSpc>
                <a:spcPct val="115000"/>
              </a:lnSpc>
              <a:buNone/>
            </a:pPr>
            <a:r>
              <a:rPr lang="en-US" sz="1300" dirty="0">
                <a:solidFill>
                  <a:srgbClr val="22313F"/>
                </a:solidFill>
                <a:latin typeface="Calibri" panose="020F0502020204030204" pitchFamily="34" charset="0"/>
                <a:ea typeface="Calibri" panose="020F0502020204030204" pitchFamily="34" charset="-122"/>
                <a:cs typeface="Calibri" panose="020F0502020204030204" pitchFamily="34" charset="-120"/>
              </a:rPr>
              <a:t>Run OpenCV TELEA inpainting, which reconstructs the covered pixels by extrapolating inward from the surrounding texture.</a:t>
            </a:r>
            <a:endParaRPr lang="en-US" sz="1300" dirty="0"/>
          </a:p>
        </p:txBody>
      </p:sp>
      <p:sp>
        <p:nvSpPr>
          <p:cNvPr id="32" name="Text 26"/>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33" name="Text 27"/>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15 / 42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RESULT · STAGE 2</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Before &amp; After: Caliper Removal</a:t>
            </a:r>
            <a:endParaRPr lang="en-US" sz="3000" dirty="0"/>
          </a:p>
        </p:txBody>
      </p:sp>
      <p:sp>
        <p:nvSpPr>
          <p:cNvPr id="4" name="Shape 2"/>
          <p:cNvSpPr/>
          <p:nvPr/>
        </p:nvSpPr>
        <p:spPr>
          <a:xfrm>
            <a:off x="566928"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5" name="Image 0" descr="unpacked/ppt/media/image5.png"/>
          <p:cNvPicPr>
            <a:picLocks noChangeAspect="1"/>
          </p:cNvPicPr>
          <p:nvPr/>
        </p:nvPicPr>
        <p:blipFill>
          <a:blip r:embed="rId1"/>
          <a:stretch>
            <a:fillRect/>
          </a:stretch>
        </p:blipFill>
        <p:spPr>
          <a:xfrm>
            <a:off x="1620291" y="1892808"/>
            <a:ext cx="3032202" cy="3986784"/>
          </a:xfrm>
          <a:prstGeom prst="rect">
            <a:avLst/>
          </a:prstGeom>
        </p:spPr>
      </p:pic>
      <p:sp>
        <p:nvSpPr>
          <p:cNvPr id="6" name="Shape 3"/>
          <p:cNvSpPr/>
          <p:nvPr/>
        </p:nvSpPr>
        <p:spPr>
          <a:xfrm>
            <a:off x="786384" y="1911096"/>
            <a:ext cx="1417320" cy="310896"/>
          </a:xfrm>
          <a:prstGeom prst="roundRect">
            <a:avLst>
              <a:gd name="adj" fmla="val 50000"/>
            </a:avLst>
          </a:prstGeom>
          <a:solidFill>
            <a:srgbClr val="70808C"/>
          </a:solidFill>
        </p:spPr>
        <p:txBody>
          <a:bodyPr/>
          <a:p/>
        </p:txBody>
      </p:sp>
      <p:sp>
        <p:nvSpPr>
          <p:cNvPr id="7" name="Text 4"/>
          <p:cNvSpPr/>
          <p:nvPr/>
        </p:nvSpPr>
        <p:spPr>
          <a:xfrm>
            <a:off x="786384"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BEFORE</a:t>
            </a:r>
            <a:endParaRPr lang="en-US" sz="1150" dirty="0"/>
          </a:p>
        </p:txBody>
      </p:sp>
      <p:sp>
        <p:nvSpPr>
          <p:cNvPr id="8" name="Shape 5"/>
          <p:cNvSpPr/>
          <p:nvPr/>
        </p:nvSpPr>
        <p:spPr>
          <a:xfrm>
            <a:off x="6016752"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9" name="Image 1" descr="unpacked/ppt/media/image7.png"/>
          <p:cNvPicPr>
            <a:picLocks noChangeAspect="1"/>
          </p:cNvPicPr>
          <p:nvPr/>
        </p:nvPicPr>
        <p:blipFill>
          <a:blip r:embed="rId2"/>
          <a:stretch>
            <a:fillRect/>
          </a:stretch>
        </p:blipFill>
        <p:spPr>
          <a:xfrm>
            <a:off x="7070115" y="1892808"/>
            <a:ext cx="3032202" cy="3986784"/>
          </a:xfrm>
          <a:prstGeom prst="rect">
            <a:avLst/>
          </a:prstGeom>
        </p:spPr>
      </p:pic>
      <p:sp>
        <p:nvSpPr>
          <p:cNvPr id="10" name="Shape 6"/>
          <p:cNvSpPr/>
          <p:nvPr/>
        </p:nvSpPr>
        <p:spPr>
          <a:xfrm>
            <a:off x="6236208" y="1911096"/>
            <a:ext cx="1417320" cy="310896"/>
          </a:xfrm>
          <a:prstGeom prst="roundRect">
            <a:avLst>
              <a:gd name="adj" fmla="val 50000"/>
            </a:avLst>
          </a:prstGeom>
          <a:solidFill>
            <a:srgbClr val="1C7293"/>
          </a:solidFill>
        </p:spPr>
        <p:txBody>
          <a:bodyPr/>
          <a:p/>
        </p:txBody>
      </p:sp>
      <p:sp>
        <p:nvSpPr>
          <p:cNvPr id="11" name="Text 7"/>
          <p:cNvSpPr/>
          <p:nvPr/>
        </p:nvSpPr>
        <p:spPr>
          <a:xfrm>
            <a:off x="6236208"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AFTER</a:t>
            </a:r>
            <a:endParaRPr lang="en-US" sz="1150" dirty="0"/>
          </a:p>
        </p:txBody>
      </p:sp>
      <p:sp>
        <p:nvSpPr>
          <p:cNvPr id="12" name="Text 8"/>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3" name="Text 9"/>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16 / 42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STAGE 3 · FINAL PASS</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Fan Masking</a:t>
            </a:r>
            <a:endParaRPr lang="en-US" sz="3000" dirty="0"/>
          </a:p>
        </p:txBody>
      </p:sp>
      <p:sp>
        <p:nvSpPr>
          <p:cNvPr id="4" name="Shape 2"/>
          <p:cNvSpPr/>
          <p:nvPr/>
        </p:nvSpPr>
        <p:spPr>
          <a:xfrm>
            <a:off x="566928" y="1783080"/>
            <a:ext cx="5138928" cy="3337560"/>
          </a:xfrm>
          <a:prstGeom prst="roundRect">
            <a:avLst>
              <a:gd name="adj" fmla="val 246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5" name="Shape 3"/>
          <p:cNvSpPr/>
          <p:nvPr/>
        </p:nvSpPr>
        <p:spPr>
          <a:xfrm>
            <a:off x="859536" y="2103120"/>
            <a:ext cx="640080" cy="640080"/>
          </a:xfrm>
          <a:prstGeom prst="ellipse">
            <a:avLst/>
          </a:prstGeom>
          <a:solidFill>
            <a:srgbClr val="1C7293"/>
          </a:solidFill>
        </p:spPr>
        <p:txBody>
          <a:bodyPr/>
          <a:p/>
        </p:txBody>
      </p:sp>
      <p:pic>
        <p:nvPicPr>
          <p:cNvPr id="6" name="Image 0" descr="icons/mask.png"/>
          <p:cNvPicPr>
            <a:picLocks noChangeAspect="1"/>
          </p:cNvPicPr>
          <p:nvPr/>
        </p:nvPicPr>
        <p:blipFill>
          <a:blip r:embed="rId1"/>
          <a:stretch>
            <a:fillRect/>
          </a:stretch>
        </p:blipFill>
        <p:spPr>
          <a:xfrm>
            <a:off x="1032358" y="2275942"/>
            <a:ext cx="294437" cy="294437"/>
          </a:xfrm>
          <a:prstGeom prst="rect">
            <a:avLst/>
          </a:prstGeom>
        </p:spPr>
      </p:pic>
      <p:sp>
        <p:nvSpPr>
          <p:cNvPr id="7" name="Text 4"/>
          <p:cNvSpPr/>
          <p:nvPr/>
        </p:nvSpPr>
        <p:spPr>
          <a:xfrm>
            <a:off x="859536" y="2926080"/>
            <a:ext cx="4553712" cy="41148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What it does</a:t>
            </a:r>
            <a:endParaRPr lang="en-US" sz="1650" dirty="0"/>
          </a:p>
        </p:txBody>
      </p:sp>
      <p:sp>
        <p:nvSpPr>
          <p:cNvPr id="8" name="Text 5"/>
          <p:cNvSpPr/>
          <p:nvPr/>
        </p:nvSpPr>
        <p:spPr>
          <a:xfrm>
            <a:off x="859536" y="3383280"/>
            <a:ext cx="4553712" cy="150876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Everything outside the ultrasound dome is blacked out entirely — removing, in one move, any remaining corner markers, stray depth digits, dot rows, and machine artifacts hiding at the edges.</a:t>
            </a:r>
            <a:endParaRPr lang="en-US" sz="1450" dirty="0"/>
          </a:p>
        </p:txBody>
      </p:sp>
      <p:sp>
        <p:nvSpPr>
          <p:cNvPr id="9" name="Shape 6"/>
          <p:cNvSpPr/>
          <p:nvPr/>
        </p:nvSpPr>
        <p:spPr>
          <a:xfrm>
            <a:off x="5980176" y="1783080"/>
            <a:ext cx="5138928" cy="3337560"/>
          </a:xfrm>
          <a:prstGeom prst="roundRect">
            <a:avLst>
              <a:gd name="adj" fmla="val 246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sp>
        <p:nvSpPr>
          <p:cNvPr id="10" name="Shape 7"/>
          <p:cNvSpPr/>
          <p:nvPr/>
        </p:nvSpPr>
        <p:spPr>
          <a:xfrm>
            <a:off x="6272784" y="2103120"/>
            <a:ext cx="640080" cy="640080"/>
          </a:xfrm>
          <a:prstGeom prst="ellipse">
            <a:avLst/>
          </a:prstGeom>
          <a:solidFill>
            <a:srgbClr val="1C7293"/>
          </a:solidFill>
        </p:spPr>
        <p:txBody>
          <a:bodyPr/>
          <a:p/>
        </p:txBody>
      </p:sp>
      <p:pic>
        <p:nvPicPr>
          <p:cNvPr id="11" name="Image 1" descr="icons/route.png"/>
          <p:cNvPicPr>
            <a:picLocks noChangeAspect="1"/>
          </p:cNvPicPr>
          <p:nvPr/>
        </p:nvPicPr>
        <p:blipFill>
          <a:blip r:embed="rId2"/>
          <a:stretch>
            <a:fillRect/>
          </a:stretch>
        </p:blipFill>
        <p:spPr>
          <a:xfrm>
            <a:off x="6445606" y="2275942"/>
            <a:ext cx="294437" cy="294437"/>
          </a:xfrm>
          <a:prstGeom prst="rect">
            <a:avLst/>
          </a:prstGeom>
        </p:spPr>
      </p:pic>
      <p:sp>
        <p:nvSpPr>
          <p:cNvPr id="12" name="Text 8"/>
          <p:cNvSpPr/>
          <p:nvPr/>
        </p:nvSpPr>
        <p:spPr>
          <a:xfrm>
            <a:off x="6272784" y="2926080"/>
            <a:ext cx="4553712" cy="411480"/>
          </a:xfrm>
          <a:prstGeom prst="rect">
            <a:avLst/>
          </a:prstGeom>
          <a:noFill/>
        </p:spPr>
        <p:txBody>
          <a:bodyPr wrap="square" lIns="0" tIns="0" rIns="0" bIns="0" rtlCol="0" anchor="ctr"/>
          <a:lstStyle/>
          <a:p>
            <a:pPr marL="0" indent="0">
              <a:buNone/>
            </a:pPr>
            <a:r>
              <a:rPr lang="en-US" sz="1650" b="1" dirty="0">
                <a:solidFill>
                  <a:srgbClr val="0B2A4A"/>
                </a:solidFill>
                <a:latin typeface="Calibri" panose="020F0502020204030204" pitchFamily="34" charset="0"/>
                <a:ea typeface="Calibri" panose="020F0502020204030204" pitchFamily="34" charset="-122"/>
                <a:cs typeface="Calibri" panose="020F0502020204030204" pitchFamily="34" charset="-120"/>
              </a:rPr>
              <a:t>How it was built</a:t>
            </a:r>
            <a:endParaRPr lang="en-US" sz="1650" dirty="0"/>
          </a:p>
        </p:txBody>
      </p:sp>
      <p:sp>
        <p:nvSpPr>
          <p:cNvPr id="13" name="Text 9"/>
          <p:cNvSpPr/>
          <p:nvPr/>
        </p:nvSpPr>
        <p:spPr>
          <a:xfrm>
            <a:off x="6272784" y="3383280"/>
            <a:ext cx="4553712" cy="1508760"/>
          </a:xfrm>
          <a:prstGeom prst="rect">
            <a:avLst/>
          </a:prstGeom>
          <a:noFill/>
        </p:spPr>
        <p:txBody>
          <a:bodyPr wrap="square" lIns="0" tIns="0" rIns="0" bIns="0" rtlCol="0" anchor="ctr"/>
          <a:lstStyle/>
          <a:p>
            <a:pPr marL="0" indent="0">
              <a:lnSpc>
                <a:spcPct val="125000"/>
              </a:lnSpc>
              <a:buNone/>
            </a:pPr>
            <a:r>
              <a:rPr lang="en-US" sz="1450" dirty="0">
                <a:solidFill>
                  <a:srgbClr val="22313F"/>
                </a:solidFill>
                <a:latin typeface="Calibri" panose="020F0502020204030204" pitchFamily="34" charset="0"/>
                <a:ea typeface="Calibri" panose="020F0502020204030204" pitchFamily="34" charset="-122"/>
                <a:cs typeface="Calibri" panose="020F0502020204030204" pitchFamily="34" charset="-120"/>
              </a:rPr>
              <a:t>One representative image per unique pixel size was exported. All 28 polygons were hand-drawn in VGG Image Annotator, then converted into reusable mask files keyed by image dimensions.</a:t>
            </a:r>
            <a:endParaRPr lang="en-US" sz="1450" dirty="0"/>
          </a:p>
        </p:txBody>
      </p:sp>
      <p:sp>
        <p:nvSpPr>
          <p:cNvPr id="14" name="Text 10"/>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5" name="Text 11"/>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17 / 42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p:spPr>
        <p:txBody>
          <a:bodyPr wrap="square" lIns="0" tIns="0" rIns="0" bIns="0" rtlCol="0" anchor="ctr"/>
          <a:lstStyle/>
          <a:p>
            <a:pPr marL="0" indent="0" algn="l">
              <a:buNone/>
            </a:pPr>
            <a:r>
              <a:rPr lang="en-US" sz="1150" b="1" kern="0" spc="160" dirty="0">
                <a:solidFill>
                  <a:srgbClr val="1C7293"/>
                </a:solidFill>
                <a:latin typeface="Calibri" panose="020F0502020204030204" pitchFamily="34" charset="0"/>
                <a:ea typeface="Calibri" panose="020F0502020204030204" pitchFamily="34" charset="-122"/>
                <a:cs typeface="Calibri" panose="020F0502020204030204" pitchFamily="34" charset="-120"/>
              </a:rPr>
              <a:t>RESULT · STAGE 3 · FINAL</a:t>
            </a:r>
            <a:endParaRPr lang="en-US" sz="1150" dirty="0"/>
          </a:p>
        </p:txBody>
      </p:sp>
      <p:sp>
        <p:nvSpPr>
          <p:cNvPr id="3" name="Text 1"/>
          <p:cNvSpPr/>
          <p:nvPr/>
        </p:nvSpPr>
        <p:spPr>
          <a:xfrm>
            <a:off x="566928" y="676656"/>
            <a:ext cx="11057839" cy="566928"/>
          </a:xfrm>
          <a:prstGeom prst="rect">
            <a:avLst/>
          </a:prstGeom>
          <a:noFill/>
        </p:spPr>
        <p:txBody>
          <a:bodyPr wrap="square" lIns="0" tIns="0" rIns="0" bIns="0" rtlCol="0" anchor="ctr"/>
          <a:lstStyle/>
          <a:p>
            <a:pPr marL="0" indent="0" algn="l">
              <a:buNone/>
            </a:pPr>
            <a:r>
              <a:rPr lang="en-US" sz="3000" b="1" dirty="0">
                <a:solidFill>
                  <a:srgbClr val="0B2A4A"/>
                </a:solidFill>
                <a:latin typeface="Calibri" panose="020F0502020204030204" pitchFamily="34" charset="0"/>
                <a:ea typeface="Calibri" panose="020F0502020204030204" pitchFamily="34" charset="-122"/>
                <a:cs typeface="Calibri" panose="020F0502020204030204" pitchFamily="34" charset="-120"/>
              </a:rPr>
              <a:t>Before &amp; After: Fan Masking</a:t>
            </a:r>
            <a:endParaRPr lang="en-US" sz="3000" dirty="0"/>
          </a:p>
        </p:txBody>
      </p:sp>
      <p:sp>
        <p:nvSpPr>
          <p:cNvPr id="4" name="Shape 2"/>
          <p:cNvSpPr/>
          <p:nvPr/>
        </p:nvSpPr>
        <p:spPr>
          <a:xfrm>
            <a:off x="566928"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5" name="Image 0" descr="unpacked/ppt/media/image7.png"/>
          <p:cNvPicPr>
            <a:picLocks noChangeAspect="1"/>
          </p:cNvPicPr>
          <p:nvPr/>
        </p:nvPicPr>
        <p:blipFill>
          <a:blip r:embed="rId1"/>
          <a:stretch>
            <a:fillRect/>
          </a:stretch>
        </p:blipFill>
        <p:spPr>
          <a:xfrm>
            <a:off x="1620291" y="1892808"/>
            <a:ext cx="3032202" cy="3986784"/>
          </a:xfrm>
          <a:prstGeom prst="rect">
            <a:avLst/>
          </a:prstGeom>
        </p:spPr>
      </p:pic>
      <p:sp>
        <p:nvSpPr>
          <p:cNvPr id="6" name="Shape 3"/>
          <p:cNvSpPr/>
          <p:nvPr/>
        </p:nvSpPr>
        <p:spPr>
          <a:xfrm>
            <a:off x="786384" y="1911096"/>
            <a:ext cx="1417320" cy="310896"/>
          </a:xfrm>
          <a:prstGeom prst="roundRect">
            <a:avLst>
              <a:gd name="adj" fmla="val 50000"/>
            </a:avLst>
          </a:prstGeom>
          <a:solidFill>
            <a:srgbClr val="70808C"/>
          </a:solidFill>
        </p:spPr>
        <p:txBody>
          <a:bodyPr/>
          <a:p/>
        </p:txBody>
      </p:sp>
      <p:sp>
        <p:nvSpPr>
          <p:cNvPr id="7" name="Text 4"/>
          <p:cNvSpPr/>
          <p:nvPr/>
        </p:nvSpPr>
        <p:spPr>
          <a:xfrm>
            <a:off x="786384"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BEFORE</a:t>
            </a:r>
            <a:endParaRPr lang="en-US" sz="1150" dirty="0"/>
          </a:p>
        </p:txBody>
      </p:sp>
      <p:sp>
        <p:nvSpPr>
          <p:cNvPr id="8" name="Shape 5"/>
          <p:cNvSpPr/>
          <p:nvPr/>
        </p:nvSpPr>
        <p:spPr>
          <a:xfrm>
            <a:off x="6016752" y="1691640"/>
            <a:ext cx="5138928" cy="4434840"/>
          </a:xfrm>
          <a:prstGeom prst="roundRect">
            <a:avLst>
              <a:gd name="adj" fmla="val 1856"/>
            </a:avLst>
          </a:prstGeom>
          <a:solidFill>
            <a:srgbClr val="FFFFFF"/>
          </a:solidFill>
          <a:ln w="12700">
            <a:solidFill>
              <a:srgbClr val="E1E8EE"/>
            </a:solidFill>
            <a:prstDash val="solid"/>
          </a:ln>
          <a:effectLst>
            <a:outerShdw blurRad="127000" dist="38100" dir="5400000" algn="bl" rotWithShape="0">
              <a:srgbClr val="1B2A38">
                <a:alpha val="16000"/>
              </a:srgbClr>
            </a:outerShdw>
          </a:effectLst>
        </p:spPr>
        <p:txBody>
          <a:bodyPr/>
          <a:p/>
        </p:txBody>
      </p:sp>
      <p:pic>
        <p:nvPicPr>
          <p:cNvPr id="9" name="Image 1" descr="unpacked/ppt/media/image8.png"/>
          <p:cNvPicPr>
            <a:picLocks noChangeAspect="1"/>
          </p:cNvPicPr>
          <p:nvPr/>
        </p:nvPicPr>
        <p:blipFill>
          <a:blip r:embed="rId2"/>
          <a:stretch>
            <a:fillRect/>
          </a:stretch>
        </p:blipFill>
        <p:spPr>
          <a:xfrm>
            <a:off x="7070115" y="1892808"/>
            <a:ext cx="3032202" cy="3986784"/>
          </a:xfrm>
          <a:prstGeom prst="rect">
            <a:avLst/>
          </a:prstGeom>
        </p:spPr>
      </p:pic>
      <p:sp>
        <p:nvSpPr>
          <p:cNvPr id="10" name="Shape 6"/>
          <p:cNvSpPr/>
          <p:nvPr/>
        </p:nvSpPr>
        <p:spPr>
          <a:xfrm>
            <a:off x="6236208" y="1911096"/>
            <a:ext cx="1417320" cy="310896"/>
          </a:xfrm>
          <a:prstGeom prst="roundRect">
            <a:avLst>
              <a:gd name="adj" fmla="val 50000"/>
            </a:avLst>
          </a:prstGeom>
          <a:solidFill>
            <a:srgbClr val="1C7293"/>
          </a:solidFill>
        </p:spPr>
        <p:txBody>
          <a:bodyPr/>
          <a:p/>
        </p:txBody>
      </p:sp>
      <p:sp>
        <p:nvSpPr>
          <p:cNvPr id="11" name="Text 7"/>
          <p:cNvSpPr/>
          <p:nvPr/>
        </p:nvSpPr>
        <p:spPr>
          <a:xfrm>
            <a:off x="6236208" y="1911096"/>
            <a:ext cx="1417320" cy="310896"/>
          </a:xfrm>
          <a:prstGeom prst="rect">
            <a:avLst/>
          </a:prstGeom>
          <a:noFill/>
        </p:spPr>
        <p:txBody>
          <a:bodyPr wrap="square" lIns="0" tIns="0" rIns="0" bIns="0" rtlCol="0" anchor="ctr"/>
          <a:lstStyle/>
          <a:p>
            <a:pPr marL="0" indent="0" algn="ctr">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AFTER</a:t>
            </a:r>
            <a:endParaRPr lang="en-US" sz="1150" dirty="0"/>
          </a:p>
        </p:txBody>
      </p:sp>
      <p:sp>
        <p:nvSpPr>
          <p:cNvPr id="12" name="Text 8"/>
          <p:cNvSpPr/>
          <p:nvPr/>
        </p:nvSpPr>
        <p:spPr>
          <a:xfrm>
            <a:off x="566928" y="6437376"/>
            <a:ext cx="6400800" cy="274320"/>
          </a:xfrm>
          <a:prstGeom prst="rect">
            <a:avLst/>
          </a:prstGeom>
          <a:noFill/>
        </p:spPr>
        <p:txBody>
          <a:bodyPr wrap="square" lIns="0" tIns="0" rIns="0" bIns="0" rtlCol="0" anchor="ctr"/>
          <a:lstStyle/>
          <a:p>
            <a:pPr marL="0" indent="0" algn="l">
              <a:buNone/>
            </a:pPr>
            <a:r>
              <a:rPr lang="en-US" sz="1000" kern="0" spc="100" dirty="0">
                <a:solidFill>
                  <a:srgbClr val="9AABB8"/>
                </a:solidFill>
                <a:latin typeface="Calibri" panose="020F0502020204030204" pitchFamily="34" charset="0"/>
                <a:ea typeface="Calibri" panose="020F0502020204030204" pitchFamily="34" charset="-122"/>
                <a:cs typeface="Calibri" panose="020F0502020204030204" pitchFamily="34" charset="-120"/>
              </a:rPr>
              <a:t>GALLSTONE ULTRASOUND DATASET</a:t>
            </a:r>
            <a:endParaRPr lang="en-US" sz="1000" dirty="0"/>
          </a:p>
        </p:txBody>
      </p:sp>
      <p:sp>
        <p:nvSpPr>
          <p:cNvPr id="13" name="Text 9"/>
          <p:cNvSpPr/>
          <p:nvPr/>
        </p:nvSpPr>
        <p:spPr>
          <a:xfrm>
            <a:off x="10253167" y="6437376"/>
            <a:ext cx="1371600" cy="274320"/>
          </a:xfrm>
          <a:prstGeom prst="rect">
            <a:avLst/>
          </a:prstGeom>
          <a:noFill/>
        </p:spPr>
        <p:txBody>
          <a:bodyPr wrap="square" lIns="0" tIns="0" rIns="0" bIns="0" rtlCol="0" anchor="ctr"/>
          <a:lstStyle/>
          <a:p>
            <a:pPr marL="0" indent="0" algn="r">
              <a:buNone/>
            </a:pPr>
            <a:r>
              <a:rPr lang="en-US" sz="1000" dirty="0">
                <a:solidFill>
                  <a:srgbClr val="9AABB8"/>
                </a:solidFill>
                <a:latin typeface="Calibri" panose="020F0502020204030204" pitchFamily="34" charset="0"/>
                <a:ea typeface="Calibri" panose="020F0502020204030204" pitchFamily="34" charset="-122"/>
                <a:cs typeface="Calibri" panose="020F0502020204030204" pitchFamily="34" charset="-120"/>
              </a:rPr>
              <a:t>18 / 42</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PREPROCESSING · STEP 1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Every Image a Different Size</a:t>
            </a:r>
          </a:p>
        </p:txBody>
      </p:sp>
      <p:sp>
        <p:nvSpPr>
          <p:cNvPr id="4" name="TextBox 3"/>
          <p:cNvSpPr txBox="1"/>
          <p:nvPr/>
        </p:nvSpPr>
        <p:spPr>
          <a:xfrm>
            <a:off x="566928" y="1572768"/>
            <a:ext cx="11055096" cy="54864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Cropping to the fan gave every frame its own dimensions. The model needs them all identical, and the two hospitals do not even agree on orientation.</a:t>
            </a:r>
          </a:p>
        </p:txBody>
      </p:sp>
      <p:sp>
        <p:nvSpPr>
          <p:cNvPr id="5" name="Rounded Rectangle 4"/>
          <p:cNvSpPr/>
          <p:nvPr/>
        </p:nvSpPr>
        <p:spPr>
          <a:xfrm>
            <a:off x="566928" y="2331720"/>
            <a:ext cx="3401568" cy="21031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560320"/>
            <a:ext cx="2816352" cy="502920"/>
          </a:xfrm>
          <a:prstGeom prst="rect">
            <a:avLst/>
          </a:prstGeom>
          <a:noFill/>
        </p:spPr>
        <p:txBody>
          <a:bodyPr wrap="square" lIns="0" rIns="0" tIns="0" bIns="0" anchor="t">
            <a:spAutoFit/>
          </a:bodyPr>
          <a:lstStyle/>
          <a:p>
            <a:pPr algn="l">
              <a:lnSpc>
                <a:spcPct val="120000"/>
              </a:lnSpc>
            </a:pPr>
            <a:r>
              <a:rPr sz="2400" b="1">
                <a:solidFill>
                  <a:srgbClr val="1C7293"/>
                </a:solidFill>
                <a:latin typeface="Calibri"/>
              </a:rPr>
              <a:t>28</a:t>
            </a:r>
          </a:p>
        </p:txBody>
      </p:sp>
      <p:sp>
        <p:nvSpPr>
          <p:cNvPr id="7" name="TextBox 6"/>
          <p:cNvSpPr txBox="1"/>
          <p:nvPr/>
        </p:nvSpPr>
        <p:spPr>
          <a:xfrm>
            <a:off x="859536" y="3035808"/>
            <a:ext cx="2816352" cy="274320"/>
          </a:xfrm>
          <a:prstGeom prst="rect">
            <a:avLst/>
          </a:prstGeom>
          <a:noFill/>
        </p:spPr>
        <p:txBody>
          <a:bodyPr wrap="square" lIns="0" rIns="0" tIns="0" bIns="0" anchor="t">
            <a:spAutoFit/>
          </a:bodyPr>
          <a:lstStyle/>
          <a:p>
            <a:pPr algn="l">
              <a:lnSpc>
                <a:spcPct val="120000"/>
              </a:lnSpc>
            </a:pPr>
            <a:r>
              <a:rPr sz="1250" b="1">
                <a:solidFill>
                  <a:srgbClr val="0B2A4A"/>
                </a:solidFill>
                <a:latin typeface="Calibri"/>
              </a:rPr>
              <a:t>distinct image sizes</a:t>
            </a:r>
          </a:p>
        </p:txBody>
      </p:sp>
      <p:sp>
        <p:nvSpPr>
          <p:cNvPr id="8" name="TextBox 7"/>
          <p:cNvSpPr txBox="1"/>
          <p:nvPr/>
        </p:nvSpPr>
        <p:spPr>
          <a:xfrm>
            <a:off x="859536" y="3364992"/>
            <a:ext cx="2816352" cy="9144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Each fan crop produced its own bounding box, so almost no two frames match.</a:t>
            </a:r>
          </a:p>
        </p:txBody>
      </p:sp>
      <p:sp>
        <p:nvSpPr>
          <p:cNvPr id="9" name="Rounded Rectangle 8"/>
          <p:cNvSpPr/>
          <p:nvPr/>
        </p:nvSpPr>
        <p:spPr>
          <a:xfrm>
            <a:off x="4251960" y="2331720"/>
            <a:ext cx="3401568" cy="21031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2560320"/>
            <a:ext cx="2816352" cy="502920"/>
          </a:xfrm>
          <a:prstGeom prst="rect">
            <a:avLst/>
          </a:prstGeom>
          <a:noFill/>
        </p:spPr>
        <p:txBody>
          <a:bodyPr wrap="square" lIns="0" rIns="0" tIns="0" bIns="0" anchor="t">
            <a:spAutoFit/>
          </a:bodyPr>
          <a:lstStyle/>
          <a:p>
            <a:pPr algn="l">
              <a:lnSpc>
                <a:spcPct val="120000"/>
              </a:lnSpc>
            </a:pPr>
            <a:r>
              <a:rPr sz="2400" b="1">
                <a:solidFill>
                  <a:srgbClr val="1C7293"/>
                </a:solidFill>
                <a:latin typeface="Calibri"/>
              </a:rPr>
              <a:t>472 x 577</a:t>
            </a:r>
          </a:p>
        </p:txBody>
      </p:sp>
      <p:sp>
        <p:nvSpPr>
          <p:cNvPr id="11" name="TextBox 10"/>
          <p:cNvSpPr txBox="1"/>
          <p:nvPr/>
        </p:nvSpPr>
        <p:spPr>
          <a:xfrm>
            <a:off x="4544568" y="3035808"/>
            <a:ext cx="2816352" cy="274320"/>
          </a:xfrm>
          <a:prstGeom prst="rect">
            <a:avLst/>
          </a:prstGeom>
          <a:noFill/>
        </p:spPr>
        <p:txBody>
          <a:bodyPr wrap="square" lIns="0" rIns="0" tIns="0" bIns="0" anchor="t">
            <a:spAutoFit/>
          </a:bodyPr>
          <a:lstStyle/>
          <a:p>
            <a:pPr algn="l">
              <a:lnSpc>
                <a:spcPct val="120000"/>
              </a:lnSpc>
            </a:pPr>
            <a:r>
              <a:rPr sz="1250" b="1">
                <a:solidFill>
                  <a:srgbClr val="0B2A4A"/>
                </a:solidFill>
                <a:latin typeface="Calibri"/>
              </a:rPr>
              <a:t>Chughtai — portrait</a:t>
            </a:r>
          </a:p>
        </p:txBody>
      </p:sp>
      <p:sp>
        <p:nvSpPr>
          <p:cNvPr id="12" name="TextBox 11"/>
          <p:cNvSpPr txBox="1"/>
          <p:nvPr/>
        </p:nvSpPr>
        <p:spPr>
          <a:xfrm>
            <a:off x="4544568" y="3364992"/>
            <a:ext cx="2816352" cy="9144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Taller than wide. Dual-pane machine, cropped to the right pane.</a:t>
            </a:r>
          </a:p>
        </p:txBody>
      </p:sp>
      <p:sp>
        <p:nvSpPr>
          <p:cNvPr id="13" name="Rounded Rectangle 12"/>
          <p:cNvSpPr/>
          <p:nvPr/>
        </p:nvSpPr>
        <p:spPr>
          <a:xfrm>
            <a:off x="7936992" y="2331720"/>
            <a:ext cx="3401568" cy="21031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560320"/>
            <a:ext cx="2816352" cy="502920"/>
          </a:xfrm>
          <a:prstGeom prst="rect">
            <a:avLst/>
          </a:prstGeom>
          <a:noFill/>
        </p:spPr>
        <p:txBody>
          <a:bodyPr wrap="square" lIns="0" rIns="0" tIns="0" bIns="0" anchor="t">
            <a:spAutoFit/>
          </a:bodyPr>
          <a:lstStyle/>
          <a:p>
            <a:pPr algn="l">
              <a:lnSpc>
                <a:spcPct val="120000"/>
              </a:lnSpc>
            </a:pPr>
            <a:r>
              <a:rPr sz="2400" b="1">
                <a:solidFill>
                  <a:srgbClr val="1C7293"/>
                </a:solidFill>
                <a:latin typeface="Calibri"/>
              </a:rPr>
              <a:t>533 x 364</a:t>
            </a:r>
          </a:p>
        </p:txBody>
      </p:sp>
      <p:sp>
        <p:nvSpPr>
          <p:cNvPr id="15" name="TextBox 14"/>
          <p:cNvSpPr txBox="1"/>
          <p:nvPr/>
        </p:nvSpPr>
        <p:spPr>
          <a:xfrm>
            <a:off x="8229600" y="3035808"/>
            <a:ext cx="2816352" cy="274320"/>
          </a:xfrm>
          <a:prstGeom prst="rect">
            <a:avLst/>
          </a:prstGeom>
          <a:noFill/>
        </p:spPr>
        <p:txBody>
          <a:bodyPr wrap="square" lIns="0" rIns="0" tIns="0" bIns="0" anchor="t">
            <a:spAutoFit/>
          </a:bodyPr>
          <a:lstStyle/>
          <a:p>
            <a:pPr algn="l">
              <a:lnSpc>
                <a:spcPct val="120000"/>
              </a:lnSpc>
            </a:pPr>
            <a:r>
              <a:rPr sz="1250" b="1">
                <a:solidFill>
                  <a:srgbClr val="0B2A4A"/>
                </a:solidFill>
                <a:latin typeface="Calibri"/>
              </a:rPr>
              <a:t>Gulab Devi — landscape</a:t>
            </a:r>
          </a:p>
        </p:txBody>
      </p:sp>
      <p:sp>
        <p:nvSpPr>
          <p:cNvPr id="16" name="TextBox 15"/>
          <p:cNvSpPr txBox="1"/>
          <p:nvPr/>
        </p:nvSpPr>
        <p:spPr>
          <a:xfrm>
            <a:off x="8229600" y="3364992"/>
            <a:ext cx="2816352" cy="9144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Wider than tall. The opposite problem, same dataset.</a:t>
            </a:r>
          </a:p>
        </p:txBody>
      </p:sp>
      <p:sp>
        <p:nvSpPr>
          <p:cNvPr id="17" name="Rounded Rectangle 16"/>
          <p:cNvSpPr/>
          <p:nvPr/>
        </p:nvSpPr>
        <p:spPr>
          <a:xfrm>
            <a:off x="566928" y="4709160"/>
            <a:ext cx="11055096" cy="11887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919472"/>
            <a:ext cx="10469880" cy="274320"/>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THE FIX, APPLIED IDENTICALLY TO TRAIN, VALIDATION AND TEST</a:t>
            </a:r>
          </a:p>
        </p:txBody>
      </p:sp>
      <p:sp>
        <p:nvSpPr>
          <p:cNvPr id="19" name="TextBox 18"/>
          <p:cNvSpPr txBox="1"/>
          <p:nvPr/>
        </p:nvSpPr>
        <p:spPr>
          <a:xfrm>
            <a:off x="859536" y="5230368"/>
            <a:ext cx="10469880" cy="457200"/>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Pad the shorter side with black to make a square  →  resize to 224 x 224  →  convert to tensor (0-255 becomes 0.0-1.0)  →  normalize with ImageNet statistics</a:t>
            </a:r>
          </a:p>
        </p:txBody>
      </p:sp>
      <p:sp>
        <p:nvSpPr>
          <p:cNvPr id="20" name="TextBox 19"/>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1" name="TextBox 20"/>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19 /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PREPROCESSING · STEP 2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Why Padding Comes First</a:t>
            </a:r>
          </a:p>
        </p:txBody>
      </p:sp>
      <p:sp>
        <p:nvSpPr>
          <p:cNvPr id="4" name="TextBox 3"/>
          <p:cNvSpPr txBox="1"/>
          <p:nvPr/>
        </p:nvSpPr>
        <p:spPr>
          <a:xfrm>
            <a:off x="566928" y="1572768"/>
            <a:ext cx="11055096" cy="50292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Resizing a portrait image straight into a square stretches the anatomy. A round gallbladder becomes an oval and the acoustic shadow tilts, distorting the exact cues the model reads.</a:t>
            </a:r>
          </a:p>
        </p:txBody>
      </p:sp>
      <p:sp>
        <p:nvSpPr>
          <p:cNvPr id="5" name="Rounded Rectangle 4"/>
          <p:cNvSpPr/>
          <p:nvPr/>
        </p:nvSpPr>
        <p:spPr>
          <a:xfrm>
            <a:off x="1975103" y="2340864"/>
            <a:ext cx="8247888" cy="312153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d_vs_squash.png"/>
          <p:cNvPicPr>
            <a:picLocks noChangeAspect="1"/>
          </p:cNvPicPr>
          <p:nvPr/>
        </p:nvPicPr>
        <p:blipFill>
          <a:blip r:embed="rId2"/>
          <a:stretch>
            <a:fillRect/>
          </a:stretch>
        </p:blipFill>
        <p:spPr>
          <a:xfrm>
            <a:off x="2121408" y="2487168"/>
            <a:ext cx="7955279" cy="2828924"/>
          </a:xfrm>
          <a:prstGeom prst="rect">
            <a:avLst/>
          </a:prstGeom>
        </p:spPr>
      </p:pic>
      <p:sp>
        <p:nvSpPr>
          <p:cNvPr id="7" name="TextBox 6"/>
          <p:cNvSpPr txBox="1"/>
          <p:nvPr/>
        </p:nvSpPr>
        <p:spPr>
          <a:xfrm>
            <a:off x="566928" y="5669280"/>
            <a:ext cx="11055096" cy="502920"/>
          </a:xfrm>
          <a:prstGeom prst="rect">
            <a:avLst/>
          </a:prstGeom>
          <a:noFill/>
        </p:spPr>
        <p:txBody>
          <a:bodyPr wrap="square" lIns="0" rIns="0" tIns="0" bIns="0" anchor="t">
            <a:spAutoFit/>
          </a:bodyPr>
          <a:lstStyle/>
          <a:p>
            <a:pPr algn="l">
              <a:lnSpc>
                <a:spcPct val="120000"/>
              </a:lnSpc>
            </a:pPr>
            <a:r>
              <a:rPr sz="1300" b="0">
                <a:solidFill>
                  <a:srgbClr val="22313F"/>
                </a:solidFill>
                <a:latin typeface="Calibri"/>
              </a:rPr>
              <a:t>Black padding is safe here: the fan crops already have black edges, so nothing unfamiliar is introduced. After padding, the resize scales both axes equally and proportions survive.</a:t>
            </a:r>
          </a:p>
        </p:txBody>
      </p:sp>
      <p:sp>
        <p:nvSpPr>
          <p:cNvPr id="8" name="TextBox 7"/>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9" name="TextBox 8"/>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20 /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PREPROCESSING · STEP 3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Three Deliberate Design Decisions</a:t>
            </a:r>
          </a:p>
        </p:txBody>
      </p:sp>
      <p:sp>
        <p:nvSpPr>
          <p:cNvPr id="4" name="TextBox 3"/>
          <p:cNvSpPr txBox="1"/>
          <p:nvPr/>
        </p:nvSpPr>
        <p:spPr>
          <a:xfrm>
            <a:off x="566928" y="1572768"/>
            <a:ext cx="11055096" cy="36576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Each exists to protect the pretrained weights we are borrowing.</a:t>
            </a:r>
          </a:p>
        </p:txBody>
      </p:sp>
      <p:sp>
        <p:nvSpPr>
          <p:cNvPr id="5" name="Rounded Rectangle 4"/>
          <p:cNvSpPr/>
          <p:nvPr/>
        </p:nvSpPr>
        <p:spPr>
          <a:xfrm>
            <a:off x="566928" y="2148840"/>
            <a:ext cx="3401568" cy="36118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9536" y="2450592"/>
            <a:ext cx="566928" cy="5669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1</a:t>
            </a:r>
          </a:p>
        </p:txBody>
      </p:sp>
      <p:sp>
        <p:nvSpPr>
          <p:cNvPr id="7" name="TextBox 6"/>
          <p:cNvSpPr txBox="1"/>
          <p:nvPr/>
        </p:nvSpPr>
        <p:spPr>
          <a:xfrm>
            <a:off x="859536" y="3182112"/>
            <a:ext cx="2816352" cy="365760"/>
          </a:xfrm>
          <a:prstGeom prst="rect">
            <a:avLst/>
          </a:prstGeom>
          <a:noFill/>
        </p:spPr>
        <p:txBody>
          <a:bodyPr wrap="square" lIns="0" rIns="0" tIns="0" bIns="0" anchor="t">
            <a:spAutoFit/>
          </a:bodyPr>
          <a:lstStyle/>
          <a:p>
            <a:pPr algn="l">
              <a:lnSpc>
                <a:spcPct val="120000"/>
              </a:lnSpc>
            </a:pPr>
            <a:r>
              <a:rPr sz="1650" b="1">
                <a:solidFill>
                  <a:srgbClr val="0B2A4A"/>
                </a:solidFill>
                <a:latin typeface="Calibri"/>
              </a:rPr>
              <a:t>224 x 224</a:t>
            </a:r>
          </a:p>
        </p:txBody>
      </p:sp>
      <p:sp>
        <p:nvSpPr>
          <p:cNvPr id="8" name="TextBox 7"/>
          <p:cNvSpPr txBox="1"/>
          <p:nvPr/>
        </p:nvSpPr>
        <p:spPr>
          <a:xfrm>
            <a:off x="859536" y="3566160"/>
            <a:ext cx="2816352" cy="36576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The size pretrained models expect</a:t>
            </a:r>
          </a:p>
        </p:txBody>
      </p:sp>
      <p:sp>
        <p:nvSpPr>
          <p:cNvPr id="9" name="TextBox 8"/>
          <p:cNvSpPr txBox="1"/>
          <p:nvPr/>
        </p:nvSpPr>
        <p:spPr>
          <a:xfrm>
            <a:off x="859536" y="4023360"/>
            <a:ext cx="2816352" cy="16002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ResNet, EfficientNet and DINOv2 were all trained at this resolution. Anything else forces the network to relearn its spatial weights from scratch, defeating the point of starting pretrained.</a:t>
            </a:r>
          </a:p>
        </p:txBody>
      </p:sp>
      <p:sp>
        <p:nvSpPr>
          <p:cNvPr id="10" name="Rounded Rectangle 9"/>
          <p:cNvSpPr/>
          <p:nvPr/>
        </p:nvSpPr>
        <p:spPr>
          <a:xfrm>
            <a:off x="4251960" y="2148840"/>
            <a:ext cx="3401568" cy="36118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44568" y="2450592"/>
            <a:ext cx="566928" cy="5669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2</a:t>
            </a:r>
          </a:p>
        </p:txBody>
      </p:sp>
      <p:sp>
        <p:nvSpPr>
          <p:cNvPr id="12" name="TextBox 11"/>
          <p:cNvSpPr txBox="1"/>
          <p:nvPr/>
        </p:nvSpPr>
        <p:spPr>
          <a:xfrm>
            <a:off x="4544568" y="3182112"/>
            <a:ext cx="2816352" cy="365760"/>
          </a:xfrm>
          <a:prstGeom prst="rect">
            <a:avLst/>
          </a:prstGeom>
          <a:noFill/>
        </p:spPr>
        <p:txBody>
          <a:bodyPr wrap="square" lIns="0" rIns="0" tIns="0" bIns="0" anchor="t">
            <a:spAutoFit/>
          </a:bodyPr>
          <a:lstStyle/>
          <a:p>
            <a:pPr algn="l">
              <a:lnSpc>
                <a:spcPct val="120000"/>
              </a:lnSpc>
            </a:pPr>
            <a:r>
              <a:rPr sz="1650" b="1">
                <a:solidFill>
                  <a:srgbClr val="0B2A4A"/>
                </a:solidFill>
                <a:latin typeface="Calibri"/>
              </a:rPr>
              <a:t>Keep 3 channels</a:t>
            </a:r>
          </a:p>
        </p:txBody>
      </p:sp>
      <p:sp>
        <p:nvSpPr>
          <p:cNvPr id="13" name="TextBox 12"/>
          <p:cNvSpPr txBox="1"/>
          <p:nvPr/>
        </p:nvSpPr>
        <p:spPr>
          <a:xfrm>
            <a:off x="4544568" y="3566160"/>
            <a:ext cx="2816352" cy="36576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Do not convert to grayscale</a:t>
            </a:r>
          </a:p>
        </p:txBody>
      </p:sp>
      <p:sp>
        <p:nvSpPr>
          <p:cNvPr id="14" name="TextBox 13"/>
          <p:cNvSpPr txBox="1"/>
          <p:nvPr/>
        </p:nvSpPr>
        <p:spPr>
          <a:xfrm>
            <a:off x="4544568" y="4023360"/>
            <a:ext cx="2816352" cy="16002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Converting to one channel means reinitialising the first convolutional layer, which holds the universal edge and texture detectors, then relearning it from 194 frames.</a:t>
            </a:r>
          </a:p>
        </p:txBody>
      </p:sp>
      <p:sp>
        <p:nvSpPr>
          <p:cNvPr id="15" name="Rounded Rectangle 14"/>
          <p:cNvSpPr/>
          <p:nvPr/>
        </p:nvSpPr>
        <p:spPr>
          <a:xfrm>
            <a:off x="7936992" y="2148840"/>
            <a:ext cx="3401568" cy="36118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0" y="2450592"/>
            <a:ext cx="566928" cy="5669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3</a:t>
            </a:r>
          </a:p>
        </p:txBody>
      </p:sp>
      <p:sp>
        <p:nvSpPr>
          <p:cNvPr id="17" name="TextBox 16"/>
          <p:cNvSpPr txBox="1"/>
          <p:nvPr/>
        </p:nvSpPr>
        <p:spPr>
          <a:xfrm>
            <a:off x="8229600" y="3182112"/>
            <a:ext cx="2816352" cy="365760"/>
          </a:xfrm>
          <a:prstGeom prst="rect">
            <a:avLst/>
          </a:prstGeom>
          <a:noFill/>
        </p:spPr>
        <p:txBody>
          <a:bodyPr wrap="square" lIns="0" rIns="0" tIns="0" bIns="0" anchor="t">
            <a:spAutoFit/>
          </a:bodyPr>
          <a:lstStyle/>
          <a:p>
            <a:pPr algn="l">
              <a:lnSpc>
                <a:spcPct val="120000"/>
              </a:lnSpc>
            </a:pPr>
            <a:r>
              <a:rPr sz="1650" b="1">
                <a:solidFill>
                  <a:srgbClr val="0B2A4A"/>
                </a:solidFill>
                <a:latin typeface="Calibri"/>
              </a:rPr>
              <a:t>ImageNet statistics</a:t>
            </a:r>
          </a:p>
        </p:txBody>
      </p:sp>
      <p:sp>
        <p:nvSpPr>
          <p:cNvPr id="18" name="TextBox 17"/>
          <p:cNvSpPr txBox="1"/>
          <p:nvPr/>
        </p:nvSpPr>
        <p:spPr>
          <a:xfrm>
            <a:off x="8229600" y="3566160"/>
            <a:ext cx="2816352" cy="36576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mean .485 .456 .406 / std .229 .224 .225</a:t>
            </a:r>
          </a:p>
        </p:txBody>
      </p:sp>
      <p:sp>
        <p:nvSpPr>
          <p:cNvPr id="19" name="TextBox 18"/>
          <p:cNvSpPr txBox="1"/>
          <p:nvPr/>
        </p:nvSpPr>
        <p:spPr>
          <a:xfrm>
            <a:off x="8229600" y="4023360"/>
            <a:ext cx="2816352" cy="160020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Measurements of the photographs the backbone originally learned from. Feeding data on the same scale keeps activations in the range every downstream weight expects.</a:t>
            </a:r>
          </a:p>
        </p:txBody>
      </p:sp>
      <p:sp>
        <p:nvSpPr>
          <p:cNvPr id="20" name="TextBox 19"/>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1" name="TextBox 20"/>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21 / 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1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Why We Augment At All</a:t>
            </a:r>
          </a:p>
        </p:txBody>
      </p:sp>
      <p:sp>
        <p:nvSpPr>
          <p:cNvPr id="4" name="TextBox 3"/>
          <p:cNvSpPr txBox="1"/>
          <p:nvPr/>
        </p:nvSpPr>
        <p:spPr>
          <a:xfrm>
            <a:off x="566928" y="1572768"/>
            <a:ext cx="11055096" cy="54864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194 images is very few. Augmentation shows the model the same scan under conditions that genuinely vary in real scanning, so it learns the anatomy rather than one fixed picture of it. Applied to training images only, never to validation or test.</a:t>
            </a:r>
          </a:p>
        </p:txBody>
      </p:sp>
      <p:sp>
        <p:nvSpPr>
          <p:cNvPr id="5" name="Rounded Rectangle 4"/>
          <p:cNvSpPr/>
          <p:nvPr/>
        </p:nvSpPr>
        <p:spPr>
          <a:xfrm>
            <a:off x="566928" y="251460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267919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Horizontal flip</a:t>
            </a:r>
          </a:p>
        </p:txBody>
      </p:sp>
      <p:sp>
        <p:nvSpPr>
          <p:cNvPr id="7" name="TextBox 6"/>
          <p:cNvSpPr txBox="1"/>
          <p:nvPr/>
        </p:nvSpPr>
        <p:spPr>
          <a:xfrm>
            <a:off x="841247" y="297180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Probe placement genuinely varies left to right</a:t>
            </a:r>
          </a:p>
        </p:txBody>
      </p:sp>
      <p:sp>
        <p:nvSpPr>
          <p:cNvPr id="8" name="Rounded Rectangle 7"/>
          <p:cNvSpPr/>
          <p:nvPr/>
        </p:nvSpPr>
        <p:spPr>
          <a:xfrm>
            <a:off x="6144768" y="251460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67919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Rotation up to 10°</a:t>
            </a:r>
          </a:p>
        </p:txBody>
      </p:sp>
      <p:sp>
        <p:nvSpPr>
          <p:cNvPr id="10" name="TextBox 9"/>
          <p:cNvSpPr txBox="1"/>
          <p:nvPr/>
        </p:nvSpPr>
        <p:spPr>
          <a:xfrm>
            <a:off x="6419088" y="297180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Small probe angle variation between sonographers</a:t>
            </a:r>
          </a:p>
        </p:txBody>
      </p:sp>
      <p:sp>
        <p:nvSpPr>
          <p:cNvPr id="11" name="Rounded Rectangle 10"/>
          <p:cNvSpPr/>
          <p:nvPr/>
        </p:nvSpPr>
        <p:spPr>
          <a:xfrm>
            <a:off x="566928" y="356616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373075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Random crop and resize</a:t>
            </a:r>
          </a:p>
        </p:txBody>
      </p:sp>
      <p:sp>
        <p:nvSpPr>
          <p:cNvPr id="13" name="TextBox 12"/>
          <p:cNvSpPr txBox="1"/>
          <p:nvPr/>
        </p:nvSpPr>
        <p:spPr>
          <a:xfrm>
            <a:off x="841247" y="402336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Different framing and zoom</a:t>
            </a:r>
          </a:p>
        </p:txBody>
      </p:sp>
      <p:sp>
        <p:nvSpPr>
          <p:cNvPr id="14" name="Rounded Rectangle 13"/>
          <p:cNvSpPr/>
          <p:nvPr/>
        </p:nvSpPr>
        <p:spPr>
          <a:xfrm>
            <a:off x="6144768" y="356616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73075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Brightness jitter</a:t>
            </a:r>
          </a:p>
        </p:txBody>
      </p:sp>
      <p:sp>
        <p:nvSpPr>
          <p:cNvPr id="16" name="TextBox 15"/>
          <p:cNvSpPr txBox="1"/>
          <p:nvPr/>
        </p:nvSpPr>
        <p:spPr>
          <a:xfrm>
            <a:off x="6419088" y="402336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Gain settings differ by machine and operator</a:t>
            </a:r>
          </a:p>
        </p:txBody>
      </p:sp>
      <p:sp>
        <p:nvSpPr>
          <p:cNvPr id="17" name="Rounded Rectangle 16"/>
          <p:cNvSpPr/>
          <p:nvPr/>
        </p:nvSpPr>
        <p:spPr>
          <a:xfrm>
            <a:off x="566928" y="461772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78231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Contrast jitter</a:t>
            </a:r>
          </a:p>
        </p:txBody>
      </p:sp>
      <p:sp>
        <p:nvSpPr>
          <p:cNvPr id="19" name="TextBox 18"/>
          <p:cNvSpPr txBox="1"/>
          <p:nvPr/>
        </p:nvSpPr>
        <p:spPr>
          <a:xfrm>
            <a:off x="841247" y="507492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Display settings differ between departments</a:t>
            </a:r>
          </a:p>
        </p:txBody>
      </p:sp>
      <p:sp>
        <p:nvSpPr>
          <p:cNvPr id="20" name="Rounded Rectangle 19"/>
          <p:cNvSpPr/>
          <p:nvPr/>
        </p:nvSpPr>
        <p:spPr>
          <a:xfrm>
            <a:off x="6144768" y="4617720"/>
            <a:ext cx="5394960" cy="86868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4782312"/>
            <a:ext cx="4846320" cy="274320"/>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Gaussian noise</a:t>
            </a:r>
          </a:p>
        </p:txBody>
      </p:sp>
      <p:sp>
        <p:nvSpPr>
          <p:cNvPr id="22" name="TextBox 21"/>
          <p:cNvSpPr txBox="1"/>
          <p:nvPr/>
        </p:nvSpPr>
        <p:spPr>
          <a:xfrm>
            <a:off x="6419088" y="5074920"/>
            <a:ext cx="484632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Meant to simulate ultrasound speckle</a:t>
            </a:r>
          </a:p>
        </p:txBody>
      </p:sp>
      <p:sp>
        <p:nvSpPr>
          <p:cNvPr id="23" name="Rounded Rectangle 22"/>
          <p:cNvSpPr/>
          <p:nvPr/>
        </p:nvSpPr>
        <p:spPr>
          <a:xfrm>
            <a:off x="566928" y="5715000"/>
            <a:ext cx="11055096" cy="65836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5888736"/>
            <a:ext cx="10469880" cy="329184"/>
          </a:xfrm>
          <a:prstGeom prst="rect">
            <a:avLst/>
          </a:prstGeom>
          <a:noFill/>
        </p:spPr>
        <p:txBody>
          <a:bodyPr wrap="square" lIns="0" rIns="0" tIns="0" bIns="0" anchor="t">
            <a:spAutoFit/>
          </a:bodyPr>
          <a:lstStyle/>
          <a:p>
            <a:pPr algn="l">
              <a:lnSpc>
                <a:spcPct val="120000"/>
              </a:lnSpc>
            </a:pPr>
            <a:r>
              <a:rPr sz="1250" b="1">
                <a:solidFill>
                  <a:srgbClr val="1C7293"/>
                </a:solidFill>
                <a:latin typeface="Calibri"/>
              </a:rPr>
              <a:t>The next slides show each one on its own, at the strongest setting the model ever sees.</a:t>
            </a:r>
          </a:p>
        </p:txBody>
      </p:sp>
      <p:sp>
        <p:nvSpPr>
          <p:cNvPr id="25" name="TextBox 24"/>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6" name="TextBox 25"/>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22 / 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2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Horizontal Flip</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The strongest transform we use. A sonographer can approach the gallbladder from either side, so a mirrored scan is entirely realistic.</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flip.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22313F"/>
                </a:solidFill>
                <a:latin typeface="Calibri"/>
              </a:rPr>
              <a:t>Anatomy is preserved, only the orientation changes. Physically valid, so it is always allowed.</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3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Rotation</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Up to 10 degrees either way. The probe is held by hand, so a small tilt is normal between operators and between scans.</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rotation.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22313F"/>
                </a:solidFill>
                <a:latin typeface="Calibri"/>
              </a:rPr>
              <a:t>Kept small deliberately: beyond about 15 degrees, black corners get dragged in from the fan boundary.</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24 /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4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Random Crop and Resize</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Keeps between 80% and 100% of the image area, then resizes back to 224. Mimics how much of the field a sonographer chooses to capture.</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crop.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22313F"/>
                </a:solidFill>
                <a:latin typeface="Calibri"/>
              </a:rPr>
              <a:t>Teaches the model that the gallbladder will not always sit in the same place or at the same scale.</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25 / 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5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Brightness Jitter</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Scaled between 0.7x and 1.3x. Ultrasound gain is set by hand on every machine, so overall image brightness genuinely varies scan to scan.</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brightness.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22313F"/>
                </a:solidFill>
                <a:latin typeface="Calibri"/>
              </a:rPr>
              <a:t>Stops the model using overall brightness as a shortcut, since gain is an operator choice, not a finding.</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26 / 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6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Contrast Jitter</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Also scaled between 0.7x and 1.3x. Different departments and display settings produce visibly different contrast on the same anatomy.</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contrast.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22313F"/>
                </a:solidFill>
                <a:latin typeface="Calibri"/>
              </a:rPr>
              <a:t>Reducing contrast is the stronger direction here, flattening the difference between tissue and shadow.</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27 / 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7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Gaussian Blur</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Sigma between 0.1 and 1.0, with a 3-pixel kernel. Intended to mimic slightly out-of-focus or lower-resolution captures.</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blur.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60707E"/>
                </a:solidFill>
                <a:latin typeface="Calibri"/>
              </a:rPr>
              <a:t>Even at maximum strength this barely moves the image: mean change 1.4, roughly 17x weaker than a flip.</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8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Gaussian Noise — A Finding</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Meant to simulate the speckle inherent to ultrasound. It is added AFTER normalization, so std=0.02 works out to about 1.2 pixel levels out of 255.</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noise.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B92828"/>
                </a:solidFill>
                <a:latin typeface="Calibri"/>
              </a:rPr>
              <a:t>Effectively a no-op: mean change 0.6, the weakest transform by far. Worth testing std=0.05 or 0.1 instead.</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29 /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9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Everything Combined</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What the model actually receives during training: all transforms sampled randomly and applied together, differently on every epoch.</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full.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187A3C"/>
                </a:solidFill>
                <a:latin typeface="Calibri"/>
              </a:rPr>
              <a:t>The same gallbladder, seen a different way each time. The anatomy survives; the incidental details do not.</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30 / 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AUGMENTATION · 10 OF 10</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The One Thing We Never Do</a:t>
            </a:r>
          </a:p>
        </p:txBody>
      </p:sp>
      <p:sp>
        <p:nvSpPr>
          <p:cNvPr id="4" name="TextBox 3"/>
          <p:cNvSpPr txBox="1"/>
          <p:nvPr/>
        </p:nvSpPr>
        <p:spPr>
          <a:xfrm>
            <a:off x="566928" y="1499616"/>
            <a:ext cx="11055096" cy="384048"/>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A gallstone casts an acoustic shadow: a dark cone extending BELOW it, because the stone blocks sound from travelling deeper. That shadow is a primary diagnostic cue.</a:t>
            </a:r>
          </a:p>
        </p:txBody>
      </p:sp>
      <p:sp>
        <p:nvSpPr>
          <p:cNvPr id="5" name="Rounded Rectangle 4"/>
          <p:cNvSpPr/>
          <p:nvPr/>
        </p:nvSpPr>
        <p:spPr>
          <a:xfrm>
            <a:off x="2843784" y="1993391"/>
            <a:ext cx="6510528" cy="3552348"/>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_vflip.png"/>
          <p:cNvPicPr>
            <a:picLocks noChangeAspect="1"/>
          </p:cNvPicPr>
          <p:nvPr/>
        </p:nvPicPr>
        <p:blipFill>
          <a:blip r:embed="rId2"/>
          <a:stretch>
            <a:fillRect/>
          </a:stretch>
        </p:blipFill>
        <p:spPr>
          <a:xfrm>
            <a:off x="2990088" y="2139696"/>
            <a:ext cx="6217920" cy="3259740"/>
          </a:xfrm>
          <a:prstGeom prst="rect">
            <a:avLst/>
          </a:prstGeom>
        </p:spPr>
      </p:pic>
      <p:sp>
        <p:nvSpPr>
          <p:cNvPr id="7" name="Rounded Rectangle 6"/>
          <p:cNvSpPr/>
          <p:nvPr/>
        </p:nvSpPr>
        <p:spPr>
          <a:xfrm>
            <a:off x="566928" y="5650992"/>
            <a:ext cx="11055096" cy="6217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815584"/>
            <a:ext cx="10469880" cy="310896"/>
          </a:xfrm>
          <a:prstGeom prst="rect">
            <a:avLst/>
          </a:prstGeom>
          <a:noFill/>
        </p:spPr>
        <p:txBody>
          <a:bodyPr wrap="square" lIns="0" rIns="0" tIns="0" bIns="0" anchor="t">
            <a:spAutoFit/>
          </a:bodyPr>
          <a:lstStyle/>
          <a:p>
            <a:pPr algn="l">
              <a:lnSpc>
                <a:spcPct val="120000"/>
              </a:lnSpc>
            </a:pPr>
            <a:r>
              <a:rPr sz="1250" b="1">
                <a:solidFill>
                  <a:srgbClr val="B92828"/>
                </a:solidFill>
                <a:latin typeface="Calibri"/>
              </a:rPr>
              <a:t>Flipping vertically puts the shadow above the stone. No ultrasound machine can produce this image.</a:t>
            </a:r>
          </a:p>
        </p:txBody>
      </p:sp>
      <p:sp>
        <p:nvSpPr>
          <p:cNvPr id="9" name="TextBox 8"/>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0" name="TextBox 9"/>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31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SPLITTING RULES · 1 OF 2</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Split by Patient, Never by File</a:t>
            </a:r>
          </a:p>
        </p:txBody>
      </p:sp>
      <p:sp>
        <p:nvSpPr>
          <p:cNvPr id="4" name="TextBox 3"/>
          <p:cNvSpPr txBox="1"/>
          <p:nvPr/>
        </p:nvSpPr>
        <p:spPr>
          <a:xfrm>
            <a:off x="566928" y="1572768"/>
            <a:ext cx="11055096" cy="50292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Two rules, both about stopping the model from scoring well for the wrong reason.</a:t>
            </a:r>
          </a:p>
        </p:txBody>
      </p:sp>
      <p:sp>
        <p:nvSpPr>
          <p:cNvPr id="5" name="Rounded Rectangle 4"/>
          <p:cNvSpPr/>
          <p:nvPr/>
        </p:nvSpPr>
        <p:spPr>
          <a:xfrm>
            <a:off x="566928" y="2240280"/>
            <a:ext cx="11055096" cy="15087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96112" y="2679192"/>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1</a:t>
            </a:r>
          </a:p>
        </p:txBody>
      </p:sp>
      <p:sp>
        <p:nvSpPr>
          <p:cNvPr id="7" name="TextBox 6"/>
          <p:cNvSpPr txBox="1"/>
          <p:nvPr/>
        </p:nvSpPr>
        <p:spPr>
          <a:xfrm>
            <a:off x="1755648" y="2532888"/>
            <a:ext cx="9555480" cy="320040"/>
          </a:xfrm>
          <a:prstGeom prst="rect">
            <a:avLst/>
          </a:prstGeom>
          <a:noFill/>
        </p:spPr>
        <p:txBody>
          <a:bodyPr wrap="square" lIns="0" rIns="0" tIns="0" bIns="0" anchor="t">
            <a:spAutoFit/>
          </a:bodyPr>
          <a:lstStyle/>
          <a:p>
            <a:pPr algn="l">
              <a:lnSpc>
                <a:spcPct val="120000"/>
              </a:lnSpc>
            </a:pPr>
            <a:r>
              <a:rPr sz="1650" b="1">
                <a:solidFill>
                  <a:srgbClr val="0B2A4A"/>
                </a:solidFill>
                <a:latin typeface="Calibri"/>
              </a:rPr>
              <a:t>All of one patient's frames stay together</a:t>
            </a:r>
          </a:p>
        </p:txBody>
      </p:sp>
      <p:sp>
        <p:nvSpPr>
          <p:cNvPr id="8" name="TextBox 7"/>
          <p:cNvSpPr txBox="1"/>
          <p:nvPr/>
        </p:nvSpPr>
        <p:spPr>
          <a:xfrm>
            <a:off x="1755648" y="2916936"/>
            <a:ext cx="9555480" cy="73152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If a patient has four frames and three go to training while one goes to test, the model has already seen that gallbladder and the score is inflated. Fiddly in practice: some first names repeat across dates and belong to different people, so they must not be merged.</a:t>
            </a:r>
          </a:p>
        </p:txBody>
      </p:sp>
      <p:sp>
        <p:nvSpPr>
          <p:cNvPr id="9" name="Rounded Rectangle 8"/>
          <p:cNvSpPr/>
          <p:nvPr/>
        </p:nvSpPr>
        <p:spPr>
          <a:xfrm>
            <a:off x="566928" y="4023360"/>
            <a:ext cx="11055096" cy="15087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112" y="4462272"/>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2</a:t>
            </a:r>
          </a:p>
        </p:txBody>
      </p:sp>
      <p:sp>
        <p:nvSpPr>
          <p:cNvPr id="11" name="TextBox 10"/>
          <p:cNvSpPr txBox="1"/>
          <p:nvPr/>
        </p:nvSpPr>
        <p:spPr>
          <a:xfrm>
            <a:off x="1755648" y="4315968"/>
            <a:ext cx="9555480" cy="320040"/>
          </a:xfrm>
          <a:prstGeom prst="rect">
            <a:avLst/>
          </a:prstGeom>
          <a:noFill/>
        </p:spPr>
        <p:txBody>
          <a:bodyPr wrap="square" lIns="0" rIns="0" tIns="0" bIns="0" anchor="t">
            <a:spAutoFit/>
          </a:bodyPr>
          <a:lstStyle/>
          <a:p>
            <a:pPr algn="l">
              <a:lnSpc>
                <a:spcPct val="120000"/>
              </a:lnSpc>
            </a:pPr>
            <a:r>
              <a:rPr sz="1650" b="1">
                <a:solidFill>
                  <a:srgbClr val="0B2A4A"/>
                </a:solidFill>
                <a:latin typeface="Calibri"/>
              </a:rPr>
              <a:t>Duplicates train, but are never tested on</a:t>
            </a:r>
          </a:p>
        </p:txBody>
      </p:sp>
      <p:sp>
        <p:nvSpPr>
          <p:cNvPr id="12" name="TextBox 11"/>
          <p:cNvSpPr txBox="1"/>
          <p:nvPr/>
        </p:nvSpPr>
        <p:spPr>
          <a:xfrm>
            <a:off x="1755648" y="4700016"/>
            <a:ext cx="9555480" cy="73152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35 of the 194 frames are flagged as near-identical twins. They carry real training signal, so they stay in the training split, and are dropped from validation and test to keep the measurement clean.</a:t>
            </a:r>
          </a:p>
        </p:txBody>
      </p:sp>
      <p:sp>
        <p:nvSpPr>
          <p:cNvPr id="13" name="Rounded Rectangle 12"/>
          <p:cNvSpPr/>
          <p:nvPr/>
        </p:nvSpPr>
        <p:spPr>
          <a:xfrm>
            <a:off x="566928" y="5806440"/>
            <a:ext cx="11055096" cy="5943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961888"/>
            <a:ext cx="10469880" cy="320040"/>
          </a:xfrm>
          <a:prstGeom prst="rect">
            <a:avLst/>
          </a:prstGeom>
          <a:noFill/>
        </p:spPr>
        <p:txBody>
          <a:bodyPr wrap="square" lIns="0" rIns="0" tIns="0" bIns="0" anchor="t">
            <a:spAutoFit/>
          </a:bodyPr>
          <a:lstStyle/>
          <a:p>
            <a:pPr algn="l">
              <a:lnSpc>
                <a:spcPct val="120000"/>
              </a:lnSpc>
            </a:pPr>
            <a:r>
              <a:rPr sz="1250" b="1">
                <a:solidFill>
                  <a:srgbClr val="1C7293"/>
                </a:solidFill>
                <a:latin typeface="Calibri"/>
              </a:rPr>
              <a:t>Never split by filename. The unit of separation is the patient, not the image.</a:t>
            </a:r>
          </a:p>
        </p:txBody>
      </p:sp>
      <p:sp>
        <p:nvSpPr>
          <p:cNvPr id="15" name="TextBox 14"/>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6" name="TextBox 15"/>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SPLITTING RULES · 2 OF 2</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The Cross-Site Test</a:t>
            </a:r>
          </a:p>
        </p:txBody>
      </p:sp>
      <p:sp>
        <p:nvSpPr>
          <p:cNvPr id="4" name="TextBox 3"/>
          <p:cNvSpPr txBox="1"/>
          <p:nvPr/>
        </p:nvSpPr>
        <p:spPr>
          <a:xfrm>
            <a:off x="566928" y="1572768"/>
            <a:ext cx="11055096" cy="68580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A second, harder split: train entirely on one hospital and test entirely on the other. This is the only split that reveals whether the model learned anatomy or simply learned to recognise hospital style. It is mandatory, not optional.</a:t>
            </a:r>
          </a:p>
        </p:txBody>
      </p:sp>
      <p:sp>
        <p:nvSpPr>
          <p:cNvPr id="5" name="Rounded Rectangle 4"/>
          <p:cNvSpPr/>
          <p:nvPr/>
        </p:nvSpPr>
        <p:spPr>
          <a:xfrm>
            <a:off x="566928" y="2606040"/>
            <a:ext cx="5394960" cy="1874519"/>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816352"/>
            <a:ext cx="4809744" cy="274320"/>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MIXED SPLIT</a:t>
            </a:r>
          </a:p>
        </p:txBody>
      </p:sp>
      <p:sp>
        <p:nvSpPr>
          <p:cNvPr id="7" name="TextBox 6"/>
          <p:cNvSpPr txBox="1"/>
          <p:nvPr/>
        </p:nvSpPr>
        <p:spPr>
          <a:xfrm>
            <a:off x="859536" y="3127248"/>
            <a:ext cx="4809744" cy="502920"/>
          </a:xfrm>
          <a:prstGeom prst="rect">
            <a:avLst/>
          </a:prstGeom>
          <a:noFill/>
        </p:spPr>
        <p:txBody>
          <a:bodyPr wrap="square" lIns="0" rIns="0" tIns="0" bIns="0" anchor="t">
            <a:spAutoFit/>
          </a:bodyPr>
          <a:lstStyle/>
          <a:p>
            <a:pPr algn="l">
              <a:lnSpc>
                <a:spcPct val="120000"/>
              </a:lnSpc>
            </a:pPr>
            <a:r>
              <a:rPr sz="3000" b="1">
                <a:solidFill>
                  <a:srgbClr val="187A3C"/>
                </a:solidFill>
                <a:latin typeface="Calibri"/>
              </a:rPr>
              <a:t>AUC 0.95</a:t>
            </a:r>
          </a:p>
        </p:txBody>
      </p:sp>
      <p:sp>
        <p:nvSpPr>
          <p:cNvPr id="8" name="TextBox 7"/>
          <p:cNvSpPr txBox="1"/>
          <p:nvPr/>
        </p:nvSpPr>
        <p:spPr>
          <a:xfrm>
            <a:off x="859536" y="3703320"/>
            <a:ext cx="4809744" cy="64008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Both hospitals appear in training and testing. Looks excellent.</a:t>
            </a:r>
          </a:p>
        </p:txBody>
      </p:sp>
      <p:sp>
        <p:nvSpPr>
          <p:cNvPr id="9" name="Rounded Rectangle 8"/>
          <p:cNvSpPr/>
          <p:nvPr/>
        </p:nvSpPr>
        <p:spPr>
          <a:xfrm>
            <a:off x="6227064" y="2606040"/>
            <a:ext cx="5394960" cy="1874519"/>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816352"/>
            <a:ext cx="4809744" cy="274320"/>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CROSS-SITE</a:t>
            </a:r>
          </a:p>
        </p:txBody>
      </p:sp>
      <p:sp>
        <p:nvSpPr>
          <p:cNvPr id="11" name="TextBox 10"/>
          <p:cNvSpPr txBox="1"/>
          <p:nvPr/>
        </p:nvSpPr>
        <p:spPr>
          <a:xfrm>
            <a:off x="6519672" y="3127248"/>
            <a:ext cx="4809744" cy="502920"/>
          </a:xfrm>
          <a:prstGeom prst="rect">
            <a:avLst/>
          </a:prstGeom>
          <a:noFill/>
        </p:spPr>
        <p:txBody>
          <a:bodyPr wrap="square" lIns="0" rIns="0" tIns="0" bIns="0" anchor="t">
            <a:spAutoFit/>
          </a:bodyPr>
          <a:lstStyle/>
          <a:p>
            <a:pPr algn="l">
              <a:lnSpc>
                <a:spcPct val="120000"/>
              </a:lnSpc>
            </a:pPr>
            <a:r>
              <a:rPr sz="3000" b="1">
                <a:solidFill>
                  <a:srgbClr val="B92828"/>
                </a:solidFill>
                <a:latin typeface="Calibri"/>
              </a:rPr>
              <a:t>AUC 0.36 – 0.47</a:t>
            </a:r>
          </a:p>
        </p:txBody>
      </p:sp>
      <p:sp>
        <p:nvSpPr>
          <p:cNvPr id="12" name="TextBox 11"/>
          <p:cNvSpPr txBox="1"/>
          <p:nvPr/>
        </p:nvSpPr>
        <p:spPr>
          <a:xfrm>
            <a:off x="6519672" y="3703320"/>
            <a:ext cx="4809744" cy="64008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Trained on one hospital, tested on the other. At or below random guessing.</a:t>
            </a:r>
          </a:p>
        </p:txBody>
      </p:sp>
      <p:sp>
        <p:nvSpPr>
          <p:cNvPr id="13" name="Rounded Rectangle 12"/>
          <p:cNvSpPr/>
          <p:nvPr/>
        </p:nvSpPr>
        <p:spPr>
          <a:xfrm>
            <a:off x="566928" y="4709160"/>
            <a:ext cx="11055096" cy="14173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919472"/>
            <a:ext cx="10469880" cy="274320"/>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WHY THE GAP MATTERS</a:t>
            </a:r>
          </a:p>
        </p:txBody>
      </p:sp>
      <p:sp>
        <p:nvSpPr>
          <p:cNvPr id="15" name="TextBox 14"/>
          <p:cNvSpPr txBox="1"/>
          <p:nvPr/>
        </p:nvSpPr>
        <p:spPr>
          <a:xfrm>
            <a:off x="859536" y="5230368"/>
            <a:ext cx="10469880" cy="73152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96% of normal frames come from Chughtai and 79% of stone frames from Gulab Devi. The two machines leave different texture and grain even after every overlay is removed, so "which hospital is this" is very nearly a shortcut to the right answer. No amount of image cleaning fixes that.</a:t>
            </a:r>
          </a:p>
        </p:txBody>
      </p:sp>
      <p:sp>
        <p:nvSpPr>
          <p:cNvPr id="16" name="TextBox 15"/>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7" name="TextBox 16"/>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33 /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MODEL SELECTION · 1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194 Images Decides Everything</a:t>
            </a:r>
          </a:p>
        </p:txBody>
      </p:sp>
      <p:sp>
        <p:nvSpPr>
          <p:cNvPr id="4" name="TextBox 3"/>
          <p:cNvSpPr txBox="1"/>
          <p:nvPr/>
        </p:nvSpPr>
        <p:spPr>
          <a:xfrm>
            <a:off x="566928" y="1572768"/>
            <a:ext cx="11055096" cy="73152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A model learns by adjusting parameters. If it has far more parameters than training examples, the cheapest way to reduce its error is to memorise the training set rather than learn anything general. With 194 images, almost every modern architecture is orders of magnitude too large.</a:t>
            </a:r>
          </a:p>
        </p:txBody>
      </p:sp>
      <p:sp>
        <p:nvSpPr>
          <p:cNvPr id="5" name="Rounded Rectangle 4"/>
          <p:cNvSpPr/>
          <p:nvPr/>
        </p:nvSpPr>
        <p:spPr>
          <a:xfrm>
            <a:off x="566928" y="2651760"/>
            <a:ext cx="11055096" cy="960120"/>
          </a:xfrm>
          <a:prstGeom prst="roundRect">
            <a:avLst>
              <a:gd name="adj" fmla="val 2400"/>
            </a:avLst>
          </a:prstGeom>
          <a:solidFill>
            <a:srgbClr val="E8F1F6"/>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871216"/>
            <a:ext cx="10469880" cy="502920"/>
          </a:xfrm>
          <a:prstGeom prst="rect">
            <a:avLst/>
          </a:prstGeom>
          <a:noFill/>
        </p:spPr>
        <p:txBody>
          <a:bodyPr wrap="square" lIns="0" rIns="0" tIns="0" bIns="0" anchor="t">
            <a:spAutoFit/>
          </a:bodyPr>
          <a:lstStyle/>
          <a:p>
            <a:pPr algn="l">
              <a:lnSpc>
                <a:spcPct val="120000"/>
              </a:lnSpc>
            </a:pPr>
            <a:r>
              <a:rPr sz="1500" b="1">
                <a:solidFill>
                  <a:srgbClr val="1C7293"/>
                </a:solidFill>
                <a:latin typeface="Calibri"/>
              </a:rPr>
              <a:t>So the question was never "which architecture is best?"  It was  "how do I use a large model without letting it memorise?"</a:t>
            </a:r>
          </a:p>
        </p:txBody>
      </p:sp>
      <p:sp>
        <p:nvSpPr>
          <p:cNvPr id="7" name="Rounded Rectangle 6"/>
          <p:cNvSpPr/>
          <p:nvPr/>
        </p:nvSpPr>
        <p:spPr>
          <a:xfrm>
            <a:off x="566928" y="3886200"/>
            <a:ext cx="3401568" cy="19659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114800"/>
            <a:ext cx="2816352" cy="292608"/>
          </a:xfrm>
          <a:prstGeom prst="rect">
            <a:avLst/>
          </a:prstGeom>
          <a:noFill/>
        </p:spPr>
        <p:txBody>
          <a:bodyPr wrap="square" lIns="0" rIns="0" tIns="0" bIns="0" anchor="t">
            <a:spAutoFit/>
          </a:bodyPr>
          <a:lstStyle/>
          <a:p>
            <a:pPr algn="l">
              <a:lnSpc>
                <a:spcPct val="120000"/>
              </a:lnSpc>
            </a:pPr>
            <a:r>
              <a:rPr sz="1450" b="1">
                <a:solidFill>
                  <a:srgbClr val="0B2A4A"/>
                </a:solidFill>
                <a:latin typeface="Calibri"/>
              </a:rPr>
              <a:t>The risk</a:t>
            </a:r>
          </a:p>
        </p:txBody>
      </p:sp>
      <p:sp>
        <p:nvSpPr>
          <p:cNvPr id="9" name="TextBox 8"/>
          <p:cNvSpPr txBox="1"/>
          <p:nvPr/>
        </p:nvSpPr>
        <p:spPr>
          <a:xfrm>
            <a:off x="859536" y="4480560"/>
            <a:ext cx="2816352" cy="118872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With more parameters than examples, memorising is easier than learning. Test scores look perfect and mean nothing on a new scan.</a:t>
            </a:r>
          </a:p>
        </p:txBody>
      </p:sp>
      <p:sp>
        <p:nvSpPr>
          <p:cNvPr id="10" name="Rounded Rectangle 9"/>
          <p:cNvSpPr/>
          <p:nvPr/>
        </p:nvSpPr>
        <p:spPr>
          <a:xfrm>
            <a:off x="4251960" y="3886200"/>
            <a:ext cx="3401568" cy="19659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4114800"/>
            <a:ext cx="2816352" cy="292608"/>
          </a:xfrm>
          <a:prstGeom prst="rect">
            <a:avLst/>
          </a:prstGeom>
          <a:noFill/>
        </p:spPr>
        <p:txBody>
          <a:bodyPr wrap="square" lIns="0" rIns="0" tIns="0" bIns="0" anchor="t">
            <a:spAutoFit/>
          </a:bodyPr>
          <a:lstStyle/>
          <a:p>
            <a:pPr algn="l">
              <a:lnSpc>
                <a:spcPct val="120000"/>
              </a:lnSpc>
            </a:pPr>
            <a:r>
              <a:rPr sz="1450" b="1">
                <a:solidFill>
                  <a:srgbClr val="0B2A4A"/>
                </a:solidFill>
                <a:latin typeface="Calibri"/>
              </a:rPr>
              <a:t>The lever</a:t>
            </a:r>
          </a:p>
        </p:txBody>
      </p:sp>
      <p:sp>
        <p:nvSpPr>
          <p:cNvPr id="12" name="TextBox 11"/>
          <p:cNvSpPr txBox="1"/>
          <p:nvPr/>
        </p:nvSpPr>
        <p:spPr>
          <a:xfrm>
            <a:off x="4544568" y="4480560"/>
            <a:ext cx="2816352" cy="118872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Freeze the pretrained backbone entirely. It becomes a fixed function that turns an image into numbers, and only a tiny classifier trains on top.</a:t>
            </a:r>
          </a:p>
        </p:txBody>
      </p:sp>
      <p:sp>
        <p:nvSpPr>
          <p:cNvPr id="13" name="Rounded Rectangle 12"/>
          <p:cNvSpPr/>
          <p:nvPr/>
        </p:nvSpPr>
        <p:spPr>
          <a:xfrm>
            <a:off x="7936992" y="3886200"/>
            <a:ext cx="3401568" cy="19659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114800"/>
            <a:ext cx="2816352" cy="292608"/>
          </a:xfrm>
          <a:prstGeom prst="rect">
            <a:avLst/>
          </a:prstGeom>
          <a:noFill/>
        </p:spPr>
        <p:txBody>
          <a:bodyPr wrap="square" lIns="0" rIns="0" tIns="0" bIns="0" anchor="t">
            <a:spAutoFit/>
          </a:bodyPr>
          <a:lstStyle/>
          <a:p>
            <a:pPr algn="l">
              <a:lnSpc>
                <a:spcPct val="120000"/>
              </a:lnSpc>
            </a:pPr>
            <a:r>
              <a:rPr sz="1450" b="1">
                <a:solidFill>
                  <a:srgbClr val="0B2A4A"/>
                </a:solidFill>
                <a:latin typeface="Calibri"/>
              </a:rPr>
              <a:t>The result</a:t>
            </a:r>
          </a:p>
        </p:txBody>
      </p:sp>
      <p:sp>
        <p:nvSpPr>
          <p:cNvPr id="15" name="TextBox 14"/>
          <p:cNvSpPr txBox="1"/>
          <p:nvPr/>
        </p:nvSpPr>
        <p:spPr>
          <a:xfrm>
            <a:off x="8229600" y="4480560"/>
            <a:ext cx="2816352" cy="118872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385 trainable parameters against 194 images, roughly two per image. Comparable in size to a logistic regression.</a:t>
            </a:r>
          </a:p>
        </p:txBody>
      </p:sp>
      <p:sp>
        <p:nvSpPr>
          <p:cNvPr id="16" name="TextBox 15"/>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7" name="TextBox 16"/>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34 /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MODEL SELECTION · 2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Which Models Were Tried</a:t>
            </a:r>
          </a:p>
        </p:txBody>
      </p:sp>
      <p:sp>
        <p:nvSpPr>
          <p:cNvPr id="4" name="TextBox 3"/>
          <p:cNvSpPr txBox="1"/>
          <p:nvPr/>
        </p:nvSpPr>
        <p:spPr>
          <a:xfrm>
            <a:off x="566928" y="1572768"/>
            <a:ext cx="11055096" cy="365760"/>
          </a:xfrm>
          <a:prstGeom prst="rect">
            <a:avLst/>
          </a:prstGeom>
          <a:noFill/>
        </p:spPr>
        <p:txBody>
          <a:bodyPr wrap="square" lIns="0" rIns="0" tIns="0" bIns="0" anchor="t">
            <a:spAutoFit/>
          </a:bodyPr>
          <a:lstStyle/>
          <a:p>
            <a:pPr algn="l">
              <a:lnSpc>
                <a:spcPct val="120000"/>
              </a:lnSpc>
            </a:pPr>
            <a:r>
              <a:rPr sz="1450" b="0">
                <a:solidFill>
                  <a:srgbClr val="22313F"/>
                </a:solidFill>
                <a:latin typeface="Calibri"/>
              </a:rPr>
              <a:t>Four options were on the table. Two were ruled out on arithmetic alone, before any training run.</a:t>
            </a:r>
          </a:p>
        </p:txBody>
      </p:sp>
      <p:sp>
        <p:nvSpPr>
          <p:cNvPr id="5" name="Rounded Rectangle 4"/>
          <p:cNvSpPr/>
          <p:nvPr/>
        </p:nvSpPr>
        <p:spPr>
          <a:xfrm>
            <a:off x="566928" y="2148840"/>
            <a:ext cx="11055096" cy="877824"/>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95144"/>
            <a:ext cx="3977639"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Train a CNN from scratch</a:t>
            </a:r>
          </a:p>
        </p:txBody>
      </p:sp>
      <p:sp>
        <p:nvSpPr>
          <p:cNvPr id="7" name="TextBox 6"/>
          <p:cNvSpPr txBox="1"/>
          <p:nvPr/>
        </p:nvSpPr>
        <p:spPr>
          <a:xfrm>
            <a:off x="859536" y="2624328"/>
            <a:ext cx="3977639" cy="256032"/>
          </a:xfrm>
          <a:prstGeom prst="rect">
            <a:avLst/>
          </a:prstGeom>
          <a:noFill/>
        </p:spPr>
        <p:txBody>
          <a:bodyPr wrap="square" lIns="0" rIns="0" tIns="0" bIns="0" anchor="t">
            <a:spAutoFit/>
          </a:bodyPr>
          <a:lstStyle/>
          <a:p>
            <a:pPr algn="l">
              <a:lnSpc>
                <a:spcPct val="120000"/>
              </a:lnSpc>
            </a:pPr>
            <a:r>
              <a:rPr sz="1100" b="0">
                <a:solidFill>
                  <a:srgbClr val="60707E"/>
                </a:solidFill>
                <a:latin typeface="Calibri"/>
              </a:rPr>
              <a:t>free parameters: millions</a:t>
            </a:r>
          </a:p>
        </p:txBody>
      </p:sp>
      <p:sp>
        <p:nvSpPr>
          <p:cNvPr id="8" name="TextBox 7"/>
          <p:cNvSpPr txBox="1"/>
          <p:nvPr/>
        </p:nvSpPr>
        <p:spPr>
          <a:xfrm>
            <a:off x="4983480" y="2423160"/>
            <a:ext cx="1554480" cy="292608"/>
          </a:xfrm>
          <a:prstGeom prst="rect">
            <a:avLst/>
          </a:prstGeom>
          <a:noFill/>
        </p:spPr>
        <p:txBody>
          <a:bodyPr wrap="square" lIns="0" rIns="0" tIns="0" bIns="0" anchor="t">
            <a:spAutoFit/>
          </a:bodyPr>
          <a:lstStyle/>
          <a:p>
            <a:pPr algn="l">
              <a:lnSpc>
                <a:spcPct val="120000"/>
              </a:lnSpc>
            </a:pPr>
            <a:r>
              <a:rPr sz="1250" b="1">
                <a:solidFill>
                  <a:srgbClr val="B92828"/>
                </a:solidFill>
                <a:latin typeface="Calibri"/>
              </a:rPr>
              <a:t>REJECTED</a:t>
            </a:r>
          </a:p>
        </p:txBody>
      </p:sp>
      <p:sp>
        <p:nvSpPr>
          <p:cNvPr id="9" name="TextBox 8"/>
          <p:cNvSpPr txBox="1"/>
          <p:nvPr/>
        </p:nvSpPr>
        <p:spPr>
          <a:xfrm>
            <a:off x="6675120" y="2423160"/>
            <a:ext cx="4663440" cy="5029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Needs 10,000+ images minimum. Would memorise 194 instantly.</a:t>
            </a:r>
          </a:p>
        </p:txBody>
      </p:sp>
      <p:sp>
        <p:nvSpPr>
          <p:cNvPr id="10" name="Rounded Rectangle 9"/>
          <p:cNvSpPr/>
          <p:nvPr/>
        </p:nvSpPr>
        <p:spPr>
          <a:xfrm>
            <a:off x="566928" y="3172968"/>
            <a:ext cx="11055096" cy="877824"/>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19272"/>
            <a:ext cx="3977639"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Fully fine-tune ResNet-50 / ViT</a:t>
            </a:r>
          </a:p>
        </p:txBody>
      </p:sp>
      <p:sp>
        <p:nvSpPr>
          <p:cNvPr id="12" name="TextBox 11"/>
          <p:cNvSpPr txBox="1"/>
          <p:nvPr/>
        </p:nvSpPr>
        <p:spPr>
          <a:xfrm>
            <a:off x="859536" y="3648456"/>
            <a:ext cx="3977639" cy="256032"/>
          </a:xfrm>
          <a:prstGeom prst="rect">
            <a:avLst/>
          </a:prstGeom>
          <a:noFill/>
        </p:spPr>
        <p:txBody>
          <a:bodyPr wrap="square" lIns="0" rIns="0" tIns="0" bIns="0" anchor="t">
            <a:spAutoFit/>
          </a:bodyPr>
          <a:lstStyle/>
          <a:p>
            <a:pPr algn="l">
              <a:lnSpc>
                <a:spcPct val="120000"/>
              </a:lnSpc>
            </a:pPr>
            <a:r>
              <a:rPr sz="1100" b="0">
                <a:solidFill>
                  <a:srgbClr val="60707E"/>
                </a:solidFill>
                <a:latin typeface="Calibri"/>
              </a:rPr>
              <a:t>free parameters: tens of millions</a:t>
            </a:r>
          </a:p>
        </p:txBody>
      </p:sp>
      <p:sp>
        <p:nvSpPr>
          <p:cNvPr id="13" name="TextBox 12"/>
          <p:cNvSpPr txBox="1"/>
          <p:nvPr/>
        </p:nvSpPr>
        <p:spPr>
          <a:xfrm>
            <a:off x="4983480" y="3447288"/>
            <a:ext cx="1554480" cy="292608"/>
          </a:xfrm>
          <a:prstGeom prst="rect">
            <a:avLst/>
          </a:prstGeom>
          <a:noFill/>
        </p:spPr>
        <p:txBody>
          <a:bodyPr wrap="square" lIns="0" rIns="0" tIns="0" bIns="0" anchor="t">
            <a:spAutoFit/>
          </a:bodyPr>
          <a:lstStyle/>
          <a:p>
            <a:pPr algn="l">
              <a:lnSpc>
                <a:spcPct val="120000"/>
              </a:lnSpc>
            </a:pPr>
            <a:r>
              <a:rPr sz="1250" b="1">
                <a:solidFill>
                  <a:srgbClr val="B92828"/>
                </a:solidFill>
                <a:latin typeface="Calibri"/>
              </a:rPr>
              <a:t>REJECTED</a:t>
            </a:r>
          </a:p>
        </p:txBody>
      </p:sp>
      <p:sp>
        <p:nvSpPr>
          <p:cNvPr id="14" name="TextBox 13"/>
          <p:cNvSpPr txBox="1"/>
          <p:nvPr/>
        </p:nvSpPr>
        <p:spPr>
          <a:xfrm>
            <a:off x="6675120" y="3447288"/>
            <a:ext cx="4663440" cy="5029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Same memorisation problem, just from a better starting point.</a:t>
            </a:r>
          </a:p>
        </p:txBody>
      </p:sp>
      <p:sp>
        <p:nvSpPr>
          <p:cNvPr id="15" name="Rounded Rectangle 14"/>
          <p:cNvSpPr/>
          <p:nvPr/>
        </p:nvSpPr>
        <p:spPr>
          <a:xfrm>
            <a:off x="566928" y="4197096"/>
            <a:ext cx="11055096" cy="877824"/>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343400"/>
            <a:ext cx="3977639"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EfficientNet-B0, last 2 blocks unfrozen</a:t>
            </a:r>
          </a:p>
        </p:txBody>
      </p:sp>
      <p:sp>
        <p:nvSpPr>
          <p:cNvPr id="17" name="TextBox 16"/>
          <p:cNvSpPr txBox="1"/>
          <p:nvPr/>
        </p:nvSpPr>
        <p:spPr>
          <a:xfrm>
            <a:off x="859536" y="4672583"/>
            <a:ext cx="3977639" cy="256032"/>
          </a:xfrm>
          <a:prstGeom prst="rect">
            <a:avLst/>
          </a:prstGeom>
          <a:noFill/>
        </p:spPr>
        <p:txBody>
          <a:bodyPr wrap="square" lIns="0" rIns="0" tIns="0" bIns="0" anchor="t">
            <a:spAutoFit/>
          </a:bodyPr>
          <a:lstStyle/>
          <a:p>
            <a:pPr algn="l">
              <a:lnSpc>
                <a:spcPct val="120000"/>
              </a:lnSpc>
            </a:pPr>
            <a:r>
              <a:rPr sz="1100" b="0">
                <a:solidFill>
                  <a:srgbClr val="60707E"/>
                </a:solidFill>
                <a:latin typeface="Calibri"/>
              </a:rPr>
              <a:t>free parameters: ~1 million</a:t>
            </a:r>
          </a:p>
        </p:txBody>
      </p:sp>
      <p:sp>
        <p:nvSpPr>
          <p:cNvPr id="18" name="TextBox 17"/>
          <p:cNvSpPr txBox="1"/>
          <p:nvPr/>
        </p:nvSpPr>
        <p:spPr>
          <a:xfrm>
            <a:off x="4983480" y="4471416"/>
            <a:ext cx="1554480" cy="292608"/>
          </a:xfrm>
          <a:prstGeom prst="rect">
            <a:avLst/>
          </a:prstGeom>
          <a:noFill/>
        </p:spPr>
        <p:txBody>
          <a:bodyPr wrap="square" lIns="0" rIns="0" tIns="0" bIns="0" anchor="t">
            <a:spAutoFit/>
          </a:bodyPr>
          <a:lstStyle/>
          <a:p>
            <a:pPr algn="l">
              <a:lnSpc>
                <a:spcPct val="120000"/>
              </a:lnSpc>
            </a:pPr>
            <a:r>
              <a:rPr sz="1250" b="1">
                <a:solidFill>
                  <a:srgbClr val="1C7293"/>
                </a:solidFill>
                <a:latin typeface="Calibri"/>
              </a:rPr>
              <a:t>BASELINE</a:t>
            </a:r>
          </a:p>
        </p:txBody>
      </p:sp>
      <p:sp>
        <p:nvSpPr>
          <p:cNvPr id="19" name="TextBox 18"/>
          <p:cNvSpPr txBox="1"/>
          <p:nvPr/>
        </p:nvSpPr>
        <p:spPr>
          <a:xfrm>
            <a:off x="6675120" y="4471416"/>
            <a:ext cx="4663440" cy="5029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Reasonable middle road. Run in full as the comparison model.</a:t>
            </a:r>
          </a:p>
        </p:txBody>
      </p:sp>
      <p:sp>
        <p:nvSpPr>
          <p:cNvPr id="20" name="Rounded Rectangle 19"/>
          <p:cNvSpPr/>
          <p:nvPr/>
        </p:nvSpPr>
        <p:spPr>
          <a:xfrm>
            <a:off x="566928" y="5221224"/>
            <a:ext cx="11055096" cy="877824"/>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367528"/>
            <a:ext cx="3977639"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DINOv2 frozen + linear head</a:t>
            </a:r>
          </a:p>
        </p:txBody>
      </p:sp>
      <p:sp>
        <p:nvSpPr>
          <p:cNvPr id="22" name="TextBox 21"/>
          <p:cNvSpPr txBox="1"/>
          <p:nvPr/>
        </p:nvSpPr>
        <p:spPr>
          <a:xfrm>
            <a:off x="859536" y="5696712"/>
            <a:ext cx="3977639" cy="256032"/>
          </a:xfrm>
          <a:prstGeom prst="rect">
            <a:avLst/>
          </a:prstGeom>
          <a:noFill/>
        </p:spPr>
        <p:txBody>
          <a:bodyPr wrap="square" lIns="0" rIns="0" tIns="0" bIns="0" anchor="t">
            <a:spAutoFit/>
          </a:bodyPr>
          <a:lstStyle/>
          <a:p>
            <a:pPr algn="l">
              <a:lnSpc>
                <a:spcPct val="120000"/>
              </a:lnSpc>
            </a:pPr>
            <a:r>
              <a:rPr sz="1100" b="0">
                <a:solidFill>
                  <a:srgbClr val="60707E"/>
                </a:solidFill>
                <a:latin typeface="Calibri"/>
              </a:rPr>
              <a:t>free parameters: 385</a:t>
            </a:r>
          </a:p>
        </p:txBody>
      </p:sp>
      <p:sp>
        <p:nvSpPr>
          <p:cNvPr id="23" name="TextBox 22"/>
          <p:cNvSpPr txBox="1"/>
          <p:nvPr/>
        </p:nvSpPr>
        <p:spPr>
          <a:xfrm>
            <a:off x="4983480" y="5495544"/>
            <a:ext cx="1554480" cy="292608"/>
          </a:xfrm>
          <a:prstGeom prst="rect">
            <a:avLst/>
          </a:prstGeom>
          <a:noFill/>
        </p:spPr>
        <p:txBody>
          <a:bodyPr wrap="square" lIns="0" rIns="0" tIns="0" bIns="0" anchor="t">
            <a:spAutoFit/>
          </a:bodyPr>
          <a:lstStyle/>
          <a:p>
            <a:pPr algn="l">
              <a:lnSpc>
                <a:spcPct val="120000"/>
              </a:lnSpc>
            </a:pPr>
            <a:r>
              <a:rPr sz="1250" b="1">
                <a:solidFill>
                  <a:srgbClr val="187A3C"/>
                </a:solidFill>
                <a:latin typeface="Calibri"/>
              </a:rPr>
              <a:t>CHOSEN</a:t>
            </a:r>
          </a:p>
        </p:txBody>
      </p:sp>
      <p:sp>
        <p:nvSpPr>
          <p:cNvPr id="24" name="TextBox 23"/>
          <p:cNvSpPr txBox="1"/>
          <p:nvPr/>
        </p:nvSpPr>
        <p:spPr>
          <a:xfrm>
            <a:off x="6675120" y="5495544"/>
            <a:ext cx="4663440" cy="5029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Backbone never changes. Only a 384-to-1 linear layer trains.</a:t>
            </a:r>
          </a:p>
        </p:txBody>
      </p:sp>
      <p:sp>
        <p:nvSpPr>
          <p:cNvPr id="25" name="TextBox 24"/>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6" name="TextBox 25"/>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35 / 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MODEL SELECTION · 3 OF 3</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Why DINOv2 Won</a:t>
            </a:r>
          </a:p>
        </p:txBody>
      </p:sp>
      <p:sp>
        <p:nvSpPr>
          <p:cNvPr id="4" name="TextBox 3"/>
          <p:cNvSpPr txBox="1"/>
          <p:nvPr/>
        </p:nvSpPr>
        <p:spPr>
          <a:xfrm>
            <a:off x="566928" y="1536192"/>
            <a:ext cx="11055096" cy="365760"/>
          </a:xfrm>
          <a:prstGeom prst="rect">
            <a:avLst/>
          </a:prstGeom>
          <a:noFill/>
        </p:spPr>
        <p:txBody>
          <a:bodyPr wrap="square" lIns="0" rIns="0" tIns="0" bIns="0" anchor="t">
            <a:spAutoFit/>
          </a:bodyPr>
          <a:lstStyle/>
          <a:p>
            <a:pPr algn="l">
              <a:lnSpc>
                <a:spcPct val="120000"/>
              </a:lnSpc>
            </a:pPr>
            <a:r>
              <a:rPr sz="1400" b="0">
                <a:solidFill>
                  <a:srgbClr val="22313F"/>
                </a:solidFill>
                <a:latin typeface="Calibri"/>
              </a:rPr>
              <a:t>Both models were run on identical data and the same patient-level split.</a:t>
            </a:r>
          </a:p>
        </p:txBody>
      </p:sp>
      <p:sp>
        <p:nvSpPr>
          <p:cNvPr id="5" name="Rounded Rectangle 4"/>
          <p:cNvSpPr/>
          <p:nvPr/>
        </p:nvSpPr>
        <p:spPr>
          <a:xfrm>
            <a:off x="566928" y="2011680"/>
            <a:ext cx="6035040" cy="26060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176272"/>
            <a:ext cx="274320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METRIC</a:t>
            </a:r>
          </a:p>
        </p:txBody>
      </p:sp>
      <p:sp>
        <p:nvSpPr>
          <p:cNvPr id="7" name="TextBox 6"/>
          <p:cNvSpPr txBox="1"/>
          <p:nvPr/>
        </p:nvSpPr>
        <p:spPr>
          <a:xfrm>
            <a:off x="3931920" y="2176272"/>
            <a:ext cx="128016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EFFICIENTNET</a:t>
            </a:r>
          </a:p>
        </p:txBody>
      </p:sp>
      <p:sp>
        <p:nvSpPr>
          <p:cNvPr id="8" name="TextBox 7"/>
          <p:cNvSpPr txBox="1"/>
          <p:nvPr/>
        </p:nvSpPr>
        <p:spPr>
          <a:xfrm>
            <a:off x="5394960" y="2176272"/>
            <a:ext cx="10972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DINOV2</a:t>
            </a:r>
          </a:p>
        </p:txBody>
      </p:sp>
      <p:sp>
        <p:nvSpPr>
          <p:cNvPr id="9" name="TextBox 8"/>
          <p:cNvSpPr txBox="1"/>
          <p:nvPr/>
        </p:nvSpPr>
        <p:spPr>
          <a:xfrm>
            <a:off x="841248" y="2542032"/>
            <a:ext cx="30175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Mixed-split test AUC</a:t>
            </a:r>
          </a:p>
        </p:txBody>
      </p:sp>
      <p:sp>
        <p:nvSpPr>
          <p:cNvPr id="10" name="TextBox 9"/>
          <p:cNvSpPr txBox="1"/>
          <p:nvPr/>
        </p:nvSpPr>
        <p:spPr>
          <a:xfrm>
            <a:off x="3931920" y="2542032"/>
            <a:ext cx="128016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1.000</a:t>
            </a:r>
          </a:p>
        </p:txBody>
      </p:sp>
      <p:sp>
        <p:nvSpPr>
          <p:cNvPr id="11" name="TextBox 10"/>
          <p:cNvSpPr txBox="1"/>
          <p:nvPr/>
        </p:nvSpPr>
        <p:spPr>
          <a:xfrm>
            <a:off x="5394960" y="2542032"/>
            <a:ext cx="10972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0.952</a:t>
            </a:r>
          </a:p>
        </p:txBody>
      </p:sp>
      <p:sp>
        <p:nvSpPr>
          <p:cNvPr id="12" name="TextBox 11"/>
          <p:cNvSpPr txBox="1"/>
          <p:nvPr/>
        </p:nvSpPr>
        <p:spPr>
          <a:xfrm>
            <a:off x="841248" y="3017520"/>
            <a:ext cx="30175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Validation AUC plateau</a:t>
            </a:r>
          </a:p>
        </p:txBody>
      </p:sp>
      <p:sp>
        <p:nvSpPr>
          <p:cNvPr id="13" name="TextBox 12"/>
          <p:cNvSpPr txBox="1"/>
          <p:nvPr/>
        </p:nvSpPr>
        <p:spPr>
          <a:xfrm>
            <a:off x="3931920" y="3017520"/>
            <a:ext cx="128016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0.77 – 0.79</a:t>
            </a:r>
          </a:p>
        </p:txBody>
      </p:sp>
      <p:sp>
        <p:nvSpPr>
          <p:cNvPr id="14" name="TextBox 13"/>
          <p:cNvSpPr txBox="1"/>
          <p:nvPr/>
        </p:nvSpPr>
        <p:spPr>
          <a:xfrm>
            <a:off x="5394960" y="3017520"/>
            <a:ext cx="10972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0.88</a:t>
            </a:r>
          </a:p>
        </p:txBody>
      </p:sp>
      <p:sp>
        <p:nvSpPr>
          <p:cNvPr id="15" name="TextBox 14"/>
          <p:cNvSpPr txBox="1"/>
          <p:nvPr/>
        </p:nvSpPr>
        <p:spPr>
          <a:xfrm>
            <a:off x="841248" y="3493008"/>
            <a:ext cx="30175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Gulab Devi → Chughtai</a:t>
            </a:r>
          </a:p>
        </p:txBody>
      </p:sp>
      <p:sp>
        <p:nvSpPr>
          <p:cNvPr id="16" name="TextBox 15"/>
          <p:cNvSpPr txBox="1"/>
          <p:nvPr/>
        </p:nvSpPr>
        <p:spPr>
          <a:xfrm>
            <a:off x="3931920" y="3493008"/>
            <a:ext cx="128016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0.469</a:t>
            </a:r>
          </a:p>
        </p:txBody>
      </p:sp>
      <p:sp>
        <p:nvSpPr>
          <p:cNvPr id="17" name="TextBox 16"/>
          <p:cNvSpPr txBox="1"/>
          <p:nvPr/>
        </p:nvSpPr>
        <p:spPr>
          <a:xfrm>
            <a:off x="5394960" y="3493008"/>
            <a:ext cx="10972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0.568</a:t>
            </a:r>
          </a:p>
        </p:txBody>
      </p:sp>
      <p:sp>
        <p:nvSpPr>
          <p:cNvPr id="18" name="TextBox 17"/>
          <p:cNvSpPr txBox="1"/>
          <p:nvPr/>
        </p:nvSpPr>
        <p:spPr>
          <a:xfrm>
            <a:off x="841248" y="3968496"/>
            <a:ext cx="30175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Chughtai → Gulab Devi</a:t>
            </a:r>
          </a:p>
        </p:txBody>
      </p:sp>
      <p:sp>
        <p:nvSpPr>
          <p:cNvPr id="19" name="TextBox 18"/>
          <p:cNvSpPr txBox="1"/>
          <p:nvPr/>
        </p:nvSpPr>
        <p:spPr>
          <a:xfrm>
            <a:off x="3931920" y="3968496"/>
            <a:ext cx="128016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0.325</a:t>
            </a:r>
          </a:p>
        </p:txBody>
      </p:sp>
      <p:sp>
        <p:nvSpPr>
          <p:cNvPr id="20" name="TextBox 19"/>
          <p:cNvSpPr txBox="1"/>
          <p:nvPr/>
        </p:nvSpPr>
        <p:spPr>
          <a:xfrm>
            <a:off x="5394960" y="3968496"/>
            <a:ext cx="10972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0.396</a:t>
            </a:r>
          </a:p>
        </p:txBody>
      </p:sp>
      <p:sp>
        <p:nvSpPr>
          <p:cNvPr id="21" name="Rounded Rectangle 20"/>
          <p:cNvSpPr/>
          <p:nvPr/>
        </p:nvSpPr>
        <p:spPr>
          <a:xfrm>
            <a:off x="6903720" y="2011680"/>
            <a:ext cx="4718304" cy="26060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2212848"/>
            <a:ext cx="4169663" cy="274320"/>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SELF-SUPERVISED FEATURES</a:t>
            </a:r>
          </a:p>
        </p:txBody>
      </p:sp>
      <p:sp>
        <p:nvSpPr>
          <p:cNvPr id="23" name="TextBox 22"/>
          <p:cNvSpPr txBox="1"/>
          <p:nvPr/>
        </p:nvSpPr>
        <p:spPr>
          <a:xfrm>
            <a:off x="7178040" y="2560320"/>
            <a:ext cx="4169663" cy="1874519"/>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DINOv2 learned from 142 million images with no labels, so its features describe general visual structure. An ImageNet-supervised backbone was optimised to tell dogs from cars, which shapes its features toward a goal unrelated to ultrasound.</a:t>
            </a:r>
          </a:p>
        </p:txBody>
      </p:sp>
      <p:sp>
        <p:nvSpPr>
          <p:cNvPr id="24" name="Rounded Rectangle 23"/>
          <p:cNvSpPr/>
          <p:nvPr/>
        </p:nvSpPr>
        <p:spPr>
          <a:xfrm>
            <a:off x="566928" y="4846320"/>
            <a:ext cx="11055096" cy="14173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047488"/>
            <a:ext cx="10469880" cy="274320"/>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READ THE TABLE CAREFULLY</a:t>
            </a:r>
          </a:p>
        </p:txBody>
      </p:sp>
      <p:sp>
        <p:nvSpPr>
          <p:cNvPr id="26" name="TextBox 25"/>
          <p:cNvSpPr txBox="1"/>
          <p:nvPr/>
        </p:nvSpPr>
        <p:spPr>
          <a:xfrm>
            <a:off x="859536" y="5358384"/>
            <a:ext cx="10469880" cy="77724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EfficientNet's perfect 1.000 is not a win. On a 26-image test set a perfect score is what overfitting looks like, and its validation AUC never passed 0.79. DINOv2's validation curve sits ten points higher and it beat EfficientNet in both cross-site directions, because a frozen backbone cannot adapt to machine-specific texture the way unfrozen blocks can.</a:t>
            </a:r>
          </a:p>
        </p:txBody>
      </p:sp>
      <p:sp>
        <p:nvSpPr>
          <p:cNvPr id="27" name="TextBox 26"/>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8" name="TextBox 27"/>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36 / 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1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Four Runs, One Story</a:t>
            </a:r>
          </a:p>
        </p:txBody>
      </p:sp>
      <p:sp>
        <p:nvSpPr>
          <p:cNvPr id="4" name="TextBox 3"/>
          <p:cNvSpPr txBox="1"/>
          <p:nvPr/>
        </p:nvSpPr>
        <p:spPr>
          <a:xfrm>
            <a:off x="566928" y="1554480"/>
            <a:ext cx="11055096" cy="411480"/>
          </a:xfrm>
          <a:prstGeom prst="rect">
            <a:avLst/>
          </a:prstGeom>
          <a:noFill/>
        </p:spPr>
        <p:txBody>
          <a:bodyPr wrap="square" lIns="0" rIns="0" tIns="0" bIns="0" anchor="t">
            <a:spAutoFit/>
          </a:bodyPr>
          <a:lstStyle/>
          <a:p>
            <a:pPr algn="l">
              <a:lnSpc>
                <a:spcPct val="120000"/>
              </a:lnSpc>
            </a:pPr>
            <a:r>
              <a:rPr sz="1400" b="0">
                <a:solidFill>
                  <a:srgbClr val="22313F"/>
                </a:solidFill>
                <a:latin typeface="Calibri"/>
              </a:rPr>
              <a:t>Every recorded run, not just the best one. The differences between them are where the useful lessons sit.</a:t>
            </a:r>
          </a:p>
        </p:txBody>
      </p:sp>
      <p:sp>
        <p:nvSpPr>
          <p:cNvPr id="5" name="Rounded Rectangle 4"/>
          <p:cNvSpPr/>
          <p:nvPr/>
        </p:nvSpPr>
        <p:spPr>
          <a:xfrm>
            <a:off x="566928" y="2103120"/>
            <a:ext cx="11055096" cy="245059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67712"/>
            <a:ext cx="438912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RUN  —  AUC-ROC</a:t>
            </a:r>
          </a:p>
        </p:txBody>
      </p:sp>
      <p:sp>
        <p:nvSpPr>
          <p:cNvPr id="7" name="TextBox 6"/>
          <p:cNvSpPr txBox="1"/>
          <p:nvPr/>
        </p:nvSpPr>
        <p:spPr>
          <a:xfrm>
            <a:off x="5394960" y="2267712"/>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MIXED SPLIT</a:t>
            </a:r>
          </a:p>
        </p:txBody>
      </p:sp>
      <p:sp>
        <p:nvSpPr>
          <p:cNvPr id="8" name="TextBox 7"/>
          <p:cNvSpPr txBox="1"/>
          <p:nvPr/>
        </p:nvSpPr>
        <p:spPr>
          <a:xfrm>
            <a:off x="7589520" y="2267712"/>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GD to CH</a:t>
            </a:r>
          </a:p>
        </p:txBody>
      </p:sp>
      <p:sp>
        <p:nvSpPr>
          <p:cNvPr id="9" name="TextBox 8"/>
          <p:cNvSpPr txBox="1"/>
          <p:nvPr/>
        </p:nvSpPr>
        <p:spPr>
          <a:xfrm>
            <a:off x="9784080" y="2267712"/>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CH to GD</a:t>
            </a:r>
          </a:p>
        </p:txBody>
      </p:sp>
      <p:sp>
        <p:nvSpPr>
          <p:cNvPr id="10" name="TextBox 9"/>
          <p:cNvSpPr txBox="1"/>
          <p:nvPr/>
        </p:nvSpPr>
        <p:spPr>
          <a:xfrm>
            <a:off x="859536" y="2615184"/>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1a  EfficientNet baseline  (95 frames)</a:t>
            </a:r>
          </a:p>
        </p:txBody>
      </p:sp>
      <p:sp>
        <p:nvSpPr>
          <p:cNvPr id="11" name="TextBox 10"/>
          <p:cNvSpPr txBox="1"/>
          <p:nvPr/>
        </p:nvSpPr>
        <p:spPr>
          <a:xfrm>
            <a:off x="5394960" y="2615184"/>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0.83</a:t>
            </a:r>
          </a:p>
        </p:txBody>
      </p:sp>
      <p:sp>
        <p:nvSpPr>
          <p:cNvPr id="12" name="TextBox 11"/>
          <p:cNvSpPr txBox="1"/>
          <p:nvPr/>
        </p:nvSpPr>
        <p:spPr>
          <a:xfrm>
            <a:off x="7589520" y="261518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0.44</a:t>
            </a:r>
          </a:p>
        </p:txBody>
      </p:sp>
      <p:sp>
        <p:nvSpPr>
          <p:cNvPr id="13" name="TextBox 12"/>
          <p:cNvSpPr txBox="1"/>
          <p:nvPr/>
        </p:nvSpPr>
        <p:spPr>
          <a:xfrm>
            <a:off x="9784080" y="261518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0.86</a:t>
            </a:r>
          </a:p>
        </p:txBody>
      </p:sp>
      <p:sp>
        <p:nvSpPr>
          <p:cNvPr id="14" name="TextBox 13"/>
          <p:cNvSpPr txBox="1"/>
          <p:nvPr/>
        </p:nvSpPr>
        <p:spPr>
          <a:xfrm>
            <a:off x="859536" y="2980944"/>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1b  DINOv2 baseline  (95 frames)</a:t>
            </a:r>
          </a:p>
        </p:txBody>
      </p:sp>
      <p:sp>
        <p:nvSpPr>
          <p:cNvPr id="15" name="TextBox 14"/>
          <p:cNvSpPr txBox="1"/>
          <p:nvPr/>
        </p:nvSpPr>
        <p:spPr>
          <a:xfrm>
            <a:off x="5394960" y="2980944"/>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0.94</a:t>
            </a:r>
          </a:p>
        </p:txBody>
      </p:sp>
      <p:sp>
        <p:nvSpPr>
          <p:cNvPr id="16" name="TextBox 15"/>
          <p:cNvSpPr txBox="1"/>
          <p:nvPr/>
        </p:nvSpPr>
        <p:spPr>
          <a:xfrm>
            <a:off x="7589520" y="298094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0.50</a:t>
            </a:r>
          </a:p>
        </p:txBody>
      </p:sp>
      <p:sp>
        <p:nvSpPr>
          <p:cNvPr id="17" name="TextBox 16"/>
          <p:cNvSpPr txBox="1"/>
          <p:nvPr/>
        </p:nvSpPr>
        <p:spPr>
          <a:xfrm>
            <a:off x="9784080" y="298094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0.69</a:t>
            </a:r>
          </a:p>
        </p:txBody>
      </p:sp>
      <p:sp>
        <p:nvSpPr>
          <p:cNvPr id="18" name="TextBox 17"/>
          <p:cNvSpPr txBox="1"/>
          <p:nvPr/>
        </p:nvSpPr>
        <p:spPr>
          <a:xfrm>
            <a:off x="859536" y="3346704"/>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2   EfficientNet post-expansion</a:t>
            </a:r>
          </a:p>
        </p:txBody>
      </p:sp>
      <p:sp>
        <p:nvSpPr>
          <p:cNvPr id="19" name="TextBox 18"/>
          <p:cNvSpPr txBox="1"/>
          <p:nvPr/>
        </p:nvSpPr>
        <p:spPr>
          <a:xfrm>
            <a:off x="5394960" y="3346704"/>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1.000</a:t>
            </a:r>
          </a:p>
        </p:txBody>
      </p:sp>
      <p:sp>
        <p:nvSpPr>
          <p:cNvPr id="20" name="TextBox 19"/>
          <p:cNvSpPr txBox="1"/>
          <p:nvPr/>
        </p:nvSpPr>
        <p:spPr>
          <a:xfrm>
            <a:off x="7589520" y="334670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0.469</a:t>
            </a:r>
          </a:p>
        </p:txBody>
      </p:sp>
      <p:sp>
        <p:nvSpPr>
          <p:cNvPr id="21" name="TextBox 20"/>
          <p:cNvSpPr txBox="1"/>
          <p:nvPr/>
        </p:nvSpPr>
        <p:spPr>
          <a:xfrm>
            <a:off x="9784080" y="334670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0.325</a:t>
            </a:r>
          </a:p>
        </p:txBody>
      </p:sp>
      <p:sp>
        <p:nvSpPr>
          <p:cNvPr id="22" name="TextBox 21"/>
          <p:cNvSpPr txBox="1"/>
          <p:nvPr/>
        </p:nvSpPr>
        <p:spPr>
          <a:xfrm>
            <a:off x="859536" y="3712464"/>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3   DINOv2 post-expansion</a:t>
            </a:r>
          </a:p>
        </p:txBody>
      </p:sp>
      <p:sp>
        <p:nvSpPr>
          <p:cNvPr id="23" name="TextBox 22"/>
          <p:cNvSpPr txBox="1"/>
          <p:nvPr/>
        </p:nvSpPr>
        <p:spPr>
          <a:xfrm>
            <a:off x="5394960" y="3712464"/>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0.958</a:t>
            </a:r>
          </a:p>
        </p:txBody>
      </p:sp>
      <p:sp>
        <p:nvSpPr>
          <p:cNvPr id="24" name="TextBox 23"/>
          <p:cNvSpPr txBox="1"/>
          <p:nvPr/>
        </p:nvSpPr>
        <p:spPr>
          <a:xfrm>
            <a:off x="7589520" y="371246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0.568</a:t>
            </a:r>
          </a:p>
        </p:txBody>
      </p:sp>
      <p:sp>
        <p:nvSpPr>
          <p:cNvPr id="25" name="TextBox 24"/>
          <p:cNvSpPr txBox="1"/>
          <p:nvPr/>
        </p:nvSpPr>
        <p:spPr>
          <a:xfrm>
            <a:off x="9784080" y="371246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0.396</a:t>
            </a:r>
          </a:p>
        </p:txBody>
      </p:sp>
      <p:sp>
        <p:nvSpPr>
          <p:cNvPr id="26" name="TextBox 25"/>
          <p:cNvSpPr txBox="1"/>
          <p:nvPr/>
        </p:nvSpPr>
        <p:spPr>
          <a:xfrm>
            <a:off x="859536" y="4078224"/>
            <a:ext cx="438912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4   DINOv2 improved  (current best)</a:t>
            </a:r>
          </a:p>
        </p:txBody>
      </p:sp>
      <p:sp>
        <p:nvSpPr>
          <p:cNvPr id="27" name="TextBox 26"/>
          <p:cNvSpPr txBox="1"/>
          <p:nvPr/>
        </p:nvSpPr>
        <p:spPr>
          <a:xfrm>
            <a:off x="5394960" y="4078224"/>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0.952</a:t>
            </a:r>
          </a:p>
        </p:txBody>
      </p:sp>
      <p:sp>
        <p:nvSpPr>
          <p:cNvPr id="28" name="TextBox 27"/>
          <p:cNvSpPr txBox="1"/>
          <p:nvPr/>
        </p:nvSpPr>
        <p:spPr>
          <a:xfrm>
            <a:off x="7589520" y="4078224"/>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0.475</a:t>
            </a:r>
          </a:p>
        </p:txBody>
      </p:sp>
      <p:sp>
        <p:nvSpPr>
          <p:cNvPr id="29" name="TextBox 28"/>
          <p:cNvSpPr txBox="1"/>
          <p:nvPr/>
        </p:nvSpPr>
        <p:spPr>
          <a:xfrm>
            <a:off x="9784080" y="4078224"/>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0.358</a:t>
            </a:r>
          </a:p>
        </p:txBody>
      </p:sp>
      <p:sp>
        <p:nvSpPr>
          <p:cNvPr id="30" name="Rounded Rectangle 29"/>
          <p:cNvSpPr/>
          <p:nvPr/>
        </p:nvSpPr>
        <p:spPr>
          <a:xfrm>
            <a:off x="566928" y="4892040"/>
            <a:ext cx="11055096" cy="12344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 y="5084064"/>
            <a:ext cx="10469880" cy="256032"/>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TEST SET SIZES, IDENTICAL FOR EVERY POST-EXPANSION RUN</a:t>
            </a:r>
          </a:p>
        </p:txBody>
      </p:sp>
      <p:sp>
        <p:nvSpPr>
          <p:cNvPr id="32" name="TextBox 31"/>
          <p:cNvSpPr txBox="1"/>
          <p:nvPr/>
        </p:nvSpPr>
        <p:spPr>
          <a:xfrm>
            <a:off x="859536" y="5394960"/>
            <a:ext cx="10469880" cy="64008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Mixed split: 26 images (14 stones, 12 normal).     Gulab Devi to Chughtai: 95 images (16 stones, 79 normal).     Chughtai to Gulab Devi: 64 images (60 stones, 4 normal).</a:t>
            </a:r>
          </a:p>
        </p:txBody>
      </p:sp>
      <p:sp>
        <p:nvSpPr>
          <p:cNvPr id="33" name="TextBox 32"/>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34" name="TextBox 33"/>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2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Run 1: Before the Dataset Grew</a:t>
            </a:r>
          </a:p>
        </p:txBody>
      </p:sp>
      <p:sp>
        <p:nvSpPr>
          <p:cNvPr id="4" name="TextBox 3"/>
          <p:cNvSpPr txBox="1"/>
          <p:nvPr/>
        </p:nvSpPr>
        <p:spPr>
          <a:xfrm>
            <a:off x="566928" y="1554480"/>
            <a:ext cx="11055096" cy="457200"/>
          </a:xfrm>
          <a:prstGeom prst="rect">
            <a:avLst/>
          </a:prstGeom>
          <a:noFill/>
        </p:spPr>
        <p:txBody>
          <a:bodyPr wrap="square" lIns="0" rIns="0" tIns="0" bIns="0" anchor="t">
            <a:spAutoFit/>
          </a:bodyPr>
          <a:lstStyle/>
          <a:p>
            <a:pPr algn="l">
              <a:lnSpc>
                <a:spcPct val="120000"/>
              </a:lnSpc>
            </a:pPr>
            <a:r>
              <a:rPr sz="1400" b="0">
                <a:solidFill>
                  <a:srgbClr val="22313F"/>
                </a:solidFill>
                <a:latin typeface="Calibri"/>
              </a:rPr>
              <a:t>The original 95 frames: 83 stones against just 12 normal, across 59 patients. A 6.9-to-1 imbalance, with a 70/15/15 patient-level split.</a:t>
            </a:r>
          </a:p>
        </p:txBody>
      </p:sp>
      <p:sp>
        <p:nvSpPr>
          <p:cNvPr id="5" name="Rounded Rectangle 4"/>
          <p:cNvSpPr/>
          <p:nvPr/>
        </p:nvSpPr>
        <p:spPr>
          <a:xfrm>
            <a:off x="566928" y="2331720"/>
            <a:ext cx="5394960" cy="1874519"/>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542032"/>
            <a:ext cx="4809744" cy="256032"/>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EFFICIENTNET</a:t>
            </a:r>
          </a:p>
        </p:txBody>
      </p:sp>
      <p:sp>
        <p:nvSpPr>
          <p:cNvPr id="7" name="TextBox 6"/>
          <p:cNvSpPr txBox="1"/>
          <p:nvPr/>
        </p:nvSpPr>
        <p:spPr>
          <a:xfrm>
            <a:off x="859536" y="2871216"/>
            <a:ext cx="4809744" cy="310896"/>
          </a:xfrm>
          <a:prstGeom prst="rect">
            <a:avLst/>
          </a:prstGeom>
          <a:noFill/>
        </p:spPr>
        <p:txBody>
          <a:bodyPr wrap="square" lIns="0" rIns="0" tIns="0" bIns="0" anchor="t">
            <a:spAutoFit/>
          </a:bodyPr>
          <a:lstStyle/>
          <a:p>
            <a:pPr algn="l">
              <a:lnSpc>
                <a:spcPct val="120000"/>
              </a:lnSpc>
            </a:pPr>
            <a:r>
              <a:rPr sz="2000" b="1">
                <a:solidFill>
                  <a:srgbClr val="0B2A4A"/>
                </a:solidFill>
                <a:latin typeface="Calibri"/>
              </a:rPr>
              <a:t>Mixed 0.83</a:t>
            </a:r>
          </a:p>
        </p:txBody>
      </p:sp>
      <p:sp>
        <p:nvSpPr>
          <p:cNvPr id="8" name="TextBox 7"/>
          <p:cNvSpPr txBox="1"/>
          <p:nvPr/>
        </p:nvSpPr>
        <p:spPr>
          <a:xfrm>
            <a:off x="859536" y="3273552"/>
            <a:ext cx="4809744" cy="77724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GD to CH 0.44        CH to GD 0.86
That 0.86 is the best cross-site number ever recorded here. It did not survive the expansion.</a:t>
            </a:r>
          </a:p>
        </p:txBody>
      </p:sp>
      <p:sp>
        <p:nvSpPr>
          <p:cNvPr id="9" name="Rounded Rectangle 8"/>
          <p:cNvSpPr/>
          <p:nvPr/>
        </p:nvSpPr>
        <p:spPr>
          <a:xfrm>
            <a:off x="6227064" y="2331720"/>
            <a:ext cx="5394960" cy="1874519"/>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542032"/>
            <a:ext cx="4809744" cy="256032"/>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DINOV2</a:t>
            </a:r>
          </a:p>
        </p:txBody>
      </p:sp>
      <p:sp>
        <p:nvSpPr>
          <p:cNvPr id="11" name="TextBox 10"/>
          <p:cNvSpPr txBox="1"/>
          <p:nvPr/>
        </p:nvSpPr>
        <p:spPr>
          <a:xfrm>
            <a:off x="6519672" y="2871216"/>
            <a:ext cx="4809744" cy="310896"/>
          </a:xfrm>
          <a:prstGeom prst="rect">
            <a:avLst/>
          </a:prstGeom>
          <a:noFill/>
        </p:spPr>
        <p:txBody>
          <a:bodyPr wrap="square" lIns="0" rIns="0" tIns="0" bIns="0" anchor="t">
            <a:spAutoFit/>
          </a:bodyPr>
          <a:lstStyle/>
          <a:p>
            <a:pPr algn="l">
              <a:lnSpc>
                <a:spcPct val="120000"/>
              </a:lnSpc>
            </a:pPr>
            <a:r>
              <a:rPr sz="2000" b="1">
                <a:solidFill>
                  <a:srgbClr val="187A3C"/>
                </a:solidFill>
                <a:latin typeface="Calibri"/>
              </a:rPr>
              <a:t>Mixed 0.94</a:t>
            </a:r>
          </a:p>
        </p:txBody>
      </p:sp>
      <p:sp>
        <p:nvSpPr>
          <p:cNvPr id="12" name="TextBox 11"/>
          <p:cNvSpPr txBox="1"/>
          <p:nvPr/>
        </p:nvSpPr>
        <p:spPr>
          <a:xfrm>
            <a:off x="6519672" y="3273552"/>
            <a:ext cx="4809744" cy="777240"/>
          </a:xfrm>
          <a:prstGeom prst="rect">
            <a:avLst/>
          </a:prstGeom>
          <a:noFill/>
        </p:spPr>
        <p:txBody>
          <a:bodyPr wrap="square" lIns="0" rIns="0" tIns="0" bIns="0" anchor="t">
            <a:spAutoFit/>
          </a:bodyPr>
          <a:lstStyle/>
          <a:p>
            <a:pPr algn="l">
              <a:lnSpc>
                <a:spcPct val="120000"/>
              </a:lnSpc>
            </a:pPr>
            <a:r>
              <a:rPr sz="1200" b="0">
                <a:solidFill>
                  <a:srgbClr val="22313F"/>
                </a:solidFill>
                <a:latin typeface="Calibri"/>
              </a:rPr>
              <a:t>GD to CH 0.50        CH to GD 0.69
Led on the mixed split from the very first run, with a clean rising validation curve.</a:t>
            </a:r>
          </a:p>
        </p:txBody>
      </p:sp>
      <p:sp>
        <p:nvSpPr>
          <p:cNvPr id="13" name="Rounded Rectangle 12"/>
          <p:cNvSpPr/>
          <p:nvPr/>
        </p:nvSpPr>
        <p:spPr>
          <a:xfrm>
            <a:off x="566928" y="4434840"/>
            <a:ext cx="11055096" cy="173736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645152"/>
            <a:ext cx="10469880" cy="256032"/>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WHY THAT 0.86 SHOULD NOT BE TRUSTED</a:t>
            </a:r>
          </a:p>
        </p:txBody>
      </p:sp>
      <p:sp>
        <p:nvSpPr>
          <p:cNvPr id="15" name="TextBox 14"/>
          <p:cNvSpPr txBox="1"/>
          <p:nvPr/>
        </p:nvSpPr>
        <p:spPr>
          <a:xfrm>
            <a:off x="859536" y="4956048"/>
            <a:ext cx="10469880" cy="100584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That split contained only 3 Chughtai stone patients. The number collapsed to 0.325 the moment real Chughtai stone data was added, which is what noise does and what a genuine capability does not. It is listed here because hiding a flattering-then-vanishing number would misrepresent how the project actually progressed.</a:t>
            </a:r>
          </a:p>
        </p:txBody>
      </p:sp>
      <p:sp>
        <p:nvSpPr>
          <p:cNvPr id="16" name="TextBox 15"/>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17" name="TextBox 16"/>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38 / 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3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Run 2: EfficientNet, Expanded Data</a:t>
            </a:r>
          </a:p>
        </p:txBody>
      </p:sp>
      <p:sp>
        <p:nvSpPr>
          <p:cNvPr id="4" name="TextBox 3"/>
          <p:cNvSpPr txBox="1"/>
          <p:nvPr/>
        </p:nvSpPr>
        <p:spPr>
          <a:xfrm>
            <a:off x="566928" y="1517904"/>
            <a:ext cx="11055096" cy="411480"/>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194 frames, 136 patients. Two phases: 30 epochs frozen, then 15 epochs with the last two blocks unfrozen at lr=1e-4.</a:t>
            </a:r>
          </a:p>
        </p:txBody>
      </p:sp>
      <p:sp>
        <p:nvSpPr>
          <p:cNvPr id="5" name="Rounded Rectangle 4"/>
          <p:cNvSpPr/>
          <p:nvPr/>
        </p:nvSpPr>
        <p:spPr>
          <a:xfrm>
            <a:off x="566928" y="2084831"/>
            <a:ext cx="11055096" cy="281635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49424"/>
            <a:ext cx="438912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METRIC</a:t>
            </a:r>
          </a:p>
        </p:txBody>
      </p:sp>
      <p:sp>
        <p:nvSpPr>
          <p:cNvPr id="7" name="TextBox 6"/>
          <p:cNvSpPr txBox="1"/>
          <p:nvPr/>
        </p:nvSpPr>
        <p:spPr>
          <a:xfrm>
            <a:off x="539496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MIXED SPLIT</a:t>
            </a:r>
          </a:p>
        </p:txBody>
      </p:sp>
      <p:sp>
        <p:nvSpPr>
          <p:cNvPr id="8" name="TextBox 7"/>
          <p:cNvSpPr txBox="1"/>
          <p:nvPr/>
        </p:nvSpPr>
        <p:spPr>
          <a:xfrm>
            <a:off x="758952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GD to CH</a:t>
            </a:r>
          </a:p>
        </p:txBody>
      </p:sp>
      <p:sp>
        <p:nvSpPr>
          <p:cNvPr id="9" name="TextBox 8"/>
          <p:cNvSpPr txBox="1"/>
          <p:nvPr/>
        </p:nvSpPr>
        <p:spPr>
          <a:xfrm>
            <a:off x="978408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CH to GD</a:t>
            </a:r>
          </a:p>
        </p:txBody>
      </p:sp>
      <p:sp>
        <p:nvSpPr>
          <p:cNvPr id="10" name="TextBox 9"/>
          <p:cNvSpPr txBox="1"/>
          <p:nvPr/>
        </p:nvSpPr>
        <p:spPr>
          <a:xfrm>
            <a:off x="859536" y="2596896"/>
            <a:ext cx="4389120" cy="274320"/>
          </a:xfrm>
          <a:prstGeom prst="rect">
            <a:avLst/>
          </a:prstGeom>
          <a:noFill/>
        </p:spPr>
        <p:txBody>
          <a:bodyPr wrap="square" lIns="0" rIns="0" tIns="0" bIns="0" anchor="t">
            <a:spAutoFit/>
          </a:bodyPr>
          <a:lstStyle/>
          <a:p>
            <a:pPr algn="l">
              <a:lnSpc>
                <a:spcPct val="120000"/>
              </a:lnSpc>
            </a:pPr>
            <a:r>
              <a:rPr sz="1150" b="1">
                <a:solidFill>
                  <a:srgbClr val="B92828"/>
                </a:solidFill>
                <a:latin typeface="Calibri"/>
              </a:rPr>
              <a:t>AUC-ROC</a:t>
            </a:r>
          </a:p>
        </p:txBody>
      </p:sp>
      <p:sp>
        <p:nvSpPr>
          <p:cNvPr id="11" name="TextBox 10"/>
          <p:cNvSpPr txBox="1"/>
          <p:nvPr/>
        </p:nvSpPr>
        <p:spPr>
          <a:xfrm>
            <a:off x="5394960" y="2596896"/>
            <a:ext cx="2011680" cy="274320"/>
          </a:xfrm>
          <a:prstGeom prst="rect">
            <a:avLst/>
          </a:prstGeom>
          <a:noFill/>
        </p:spPr>
        <p:txBody>
          <a:bodyPr wrap="square" lIns="0" rIns="0" tIns="0" bIns="0" anchor="t">
            <a:spAutoFit/>
          </a:bodyPr>
          <a:lstStyle/>
          <a:p>
            <a:pPr algn="l">
              <a:lnSpc>
                <a:spcPct val="120000"/>
              </a:lnSpc>
            </a:pPr>
            <a:r>
              <a:rPr sz="1150" b="1">
                <a:solidFill>
                  <a:srgbClr val="B92828"/>
                </a:solidFill>
                <a:latin typeface="Calibri"/>
              </a:rPr>
              <a:t>1.0000</a:t>
            </a:r>
          </a:p>
        </p:txBody>
      </p:sp>
      <p:sp>
        <p:nvSpPr>
          <p:cNvPr id="12" name="TextBox 11"/>
          <p:cNvSpPr txBox="1"/>
          <p:nvPr/>
        </p:nvSpPr>
        <p:spPr>
          <a:xfrm>
            <a:off x="7589520" y="2596896"/>
            <a:ext cx="2011680" cy="274320"/>
          </a:xfrm>
          <a:prstGeom prst="rect">
            <a:avLst/>
          </a:prstGeom>
          <a:noFill/>
        </p:spPr>
        <p:txBody>
          <a:bodyPr wrap="square" lIns="0" rIns="0" tIns="0" bIns="0" anchor="t">
            <a:spAutoFit/>
          </a:bodyPr>
          <a:lstStyle/>
          <a:p>
            <a:pPr algn="l">
              <a:lnSpc>
                <a:spcPct val="120000"/>
              </a:lnSpc>
            </a:pPr>
            <a:r>
              <a:rPr sz="1150" b="1">
                <a:solidFill>
                  <a:srgbClr val="B92828"/>
                </a:solidFill>
                <a:latin typeface="Calibri"/>
              </a:rPr>
              <a:t>0.4691</a:t>
            </a:r>
          </a:p>
        </p:txBody>
      </p:sp>
      <p:sp>
        <p:nvSpPr>
          <p:cNvPr id="13" name="TextBox 12"/>
          <p:cNvSpPr txBox="1"/>
          <p:nvPr/>
        </p:nvSpPr>
        <p:spPr>
          <a:xfrm>
            <a:off x="9784080" y="2596896"/>
            <a:ext cx="2011680" cy="274320"/>
          </a:xfrm>
          <a:prstGeom prst="rect">
            <a:avLst/>
          </a:prstGeom>
          <a:noFill/>
        </p:spPr>
        <p:txBody>
          <a:bodyPr wrap="square" lIns="0" rIns="0" tIns="0" bIns="0" anchor="t">
            <a:spAutoFit/>
          </a:bodyPr>
          <a:lstStyle/>
          <a:p>
            <a:pPr algn="l">
              <a:lnSpc>
                <a:spcPct val="120000"/>
              </a:lnSpc>
            </a:pPr>
            <a:r>
              <a:rPr sz="1150" b="1">
                <a:solidFill>
                  <a:srgbClr val="B92828"/>
                </a:solidFill>
                <a:latin typeface="Calibri"/>
              </a:rPr>
              <a:t>0.3250</a:t>
            </a:r>
          </a:p>
        </p:txBody>
      </p:sp>
      <p:sp>
        <p:nvSpPr>
          <p:cNvPr id="14" name="TextBox 13"/>
          <p:cNvSpPr txBox="1"/>
          <p:nvPr/>
        </p:nvSpPr>
        <p:spPr>
          <a:xfrm>
            <a:off x="859536" y="296265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Sensitivity</a:t>
            </a:r>
          </a:p>
        </p:txBody>
      </p:sp>
      <p:sp>
        <p:nvSpPr>
          <p:cNvPr id="15" name="TextBox 14"/>
          <p:cNvSpPr txBox="1"/>
          <p:nvPr/>
        </p:nvSpPr>
        <p:spPr>
          <a:xfrm>
            <a:off x="5394960" y="296265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0.6429</a:t>
            </a:r>
          </a:p>
        </p:txBody>
      </p:sp>
      <p:sp>
        <p:nvSpPr>
          <p:cNvPr id="16" name="TextBox 15"/>
          <p:cNvSpPr txBox="1"/>
          <p:nvPr/>
        </p:nvSpPr>
        <p:spPr>
          <a:xfrm>
            <a:off x="7589520" y="296265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17" name="TextBox 16"/>
          <p:cNvSpPr txBox="1"/>
          <p:nvPr/>
        </p:nvSpPr>
        <p:spPr>
          <a:xfrm>
            <a:off x="9784080" y="296265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18" name="TextBox 17"/>
          <p:cNvSpPr txBox="1"/>
          <p:nvPr/>
        </p:nvSpPr>
        <p:spPr>
          <a:xfrm>
            <a:off x="859536" y="3328415"/>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Specificity</a:t>
            </a:r>
          </a:p>
        </p:txBody>
      </p:sp>
      <p:sp>
        <p:nvSpPr>
          <p:cNvPr id="19" name="TextBox 18"/>
          <p:cNvSpPr txBox="1"/>
          <p:nvPr/>
        </p:nvSpPr>
        <p:spPr>
          <a:xfrm>
            <a:off x="5394960" y="3328415"/>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1.0000</a:t>
            </a:r>
          </a:p>
        </p:txBody>
      </p:sp>
      <p:sp>
        <p:nvSpPr>
          <p:cNvPr id="20" name="TextBox 19"/>
          <p:cNvSpPr txBox="1"/>
          <p:nvPr/>
        </p:nvSpPr>
        <p:spPr>
          <a:xfrm>
            <a:off x="7589520" y="332841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0.9114</a:t>
            </a:r>
          </a:p>
        </p:txBody>
      </p:sp>
      <p:sp>
        <p:nvSpPr>
          <p:cNvPr id="21" name="TextBox 20"/>
          <p:cNvSpPr txBox="1"/>
          <p:nvPr/>
        </p:nvSpPr>
        <p:spPr>
          <a:xfrm>
            <a:off x="9784080" y="332841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1.0000</a:t>
            </a:r>
          </a:p>
        </p:txBody>
      </p:sp>
      <p:sp>
        <p:nvSpPr>
          <p:cNvPr id="22" name="TextBox 21"/>
          <p:cNvSpPr txBox="1"/>
          <p:nvPr/>
        </p:nvSpPr>
        <p:spPr>
          <a:xfrm>
            <a:off x="859536" y="369417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 at Sens &gt;= 0.90</a:t>
            </a:r>
          </a:p>
        </p:txBody>
      </p:sp>
      <p:sp>
        <p:nvSpPr>
          <p:cNvPr id="23" name="TextBox 22"/>
          <p:cNvSpPr txBox="1"/>
          <p:nvPr/>
        </p:nvSpPr>
        <p:spPr>
          <a:xfrm>
            <a:off x="5394960" y="369417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1.0000</a:t>
            </a:r>
          </a:p>
        </p:txBody>
      </p:sp>
      <p:sp>
        <p:nvSpPr>
          <p:cNvPr id="24" name="TextBox 23"/>
          <p:cNvSpPr txBox="1"/>
          <p:nvPr/>
        </p:nvSpPr>
        <p:spPr>
          <a:xfrm>
            <a:off x="7589520" y="369417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0.0633</a:t>
            </a:r>
          </a:p>
        </p:txBody>
      </p:sp>
      <p:sp>
        <p:nvSpPr>
          <p:cNvPr id="25" name="TextBox 24"/>
          <p:cNvSpPr txBox="1"/>
          <p:nvPr/>
        </p:nvSpPr>
        <p:spPr>
          <a:xfrm>
            <a:off x="9784080" y="369417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0.2500</a:t>
            </a:r>
          </a:p>
        </p:txBody>
      </p:sp>
      <p:sp>
        <p:nvSpPr>
          <p:cNvPr id="26" name="TextBox 25"/>
          <p:cNvSpPr txBox="1"/>
          <p:nvPr/>
        </p:nvSpPr>
        <p:spPr>
          <a:xfrm>
            <a:off x="859536" y="4059935"/>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F1</a:t>
            </a:r>
          </a:p>
        </p:txBody>
      </p:sp>
      <p:sp>
        <p:nvSpPr>
          <p:cNvPr id="27" name="TextBox 26"/>
          <p:cNvSpPr txBox="1"/>
          <p:nvPr/>
        </p:nvSpPr>
        <p:spPr>
          <a:xfrm>
            <a:off x="5394960" y="4059935"/>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0.7826</a:t>
            </a:r>
          </a:p>
        </p:txBody>
      </p:sp>
      <p:sp>
        <p:nvSpPr>
          <p:cNvPr id="28" name="TextBox 27"/>
          <p:cNvSpPr txBox="1"/>
          <p:nvPr/>
        </p:nvSpPr>
        <p:spPr>
          <a:xfrm>
            <a:off x="7589520" y="405993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29" name="TextBox 28"/>
          <p:cNvSpPr txBox="1"/>
          <p:nvPr/>
        </p:nvSpPr>
        <p:spPr>
          <a:xfrm>
            <a:off x="9784080" y="405993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30" name="TextBox 29"/>
          <p:cNvSpPr txBox="1"/>
          <p:nvPr/>
        </p:nvSpPr>
        <p:spPr>
          <a:xfrm>
            <a:off x="859536" y="442569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Accuracy</a:t>
            </a:r>
          </a:p>
        </p:txBody>
      </p:sp>
      <p:sp>
        <p:nvSpPr>
          <p:cNvPr id="31" name="TextBox 30"/>
          <p:cNvSpPr txBox="1"/>
          <p:nvPr/>
        </p:nvSpPr>
        <p:spPr>
          <a:xfrm>
            <a:off x="5394960" y="442569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0.8077</a:t>
            </a:r>
          </a:p>
        </p:txBody>
      </p:sp>
      <p:sp>
        <p:nvSpPr>
          <p:cNvPr id="32" name="TextBox 31"/>
          <p:cNvSpPr txBox="1"/>
          <p:nvPr/>
        </p:nvSpPr>
        <p:spPr>
          <a:xfrm>
            <a:off x="7589520" y="442569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0.7579</a:t>
            </a:r>
          </a:p>
        </p:txBody>
      </p:sp>
      <p:sp>
        <p:nvSpPr>
          <p:cNvPr id="33" name="TextBox 32"/>
          <p:cNvSpPr txBox="1"/>
          <p:nvPr/>
        </p:nvSpPr>
        <p:spPr>
          <a:xfrm>
            <a:off x="9784080" y="442569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0.0625</a:t>
            </a:r>
          </a:p>
        </p:txBody>
      </p:sp>
      <p:sp>
        <p:nvSpPr>
          <p:cNvPr id="34" name="Rounded Rectangle 33"/>
          <p:cNvSpPr/>
          <p:nvPr/>
        </p:nvSpPr>
        <p:spPr>
          <a:xfrm>
            <a:off x="566928" y="5029200"/>
            <a:ext cx="11055096" cy="12344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5230368"/>
            <a:ext cx="10469880" cy="256032"/>
          </a:xfrm>
          <a:prstGeom prst="rect">
            <a:avLst/>
          </a:prstGeom>
          <a:noFill/>
        </p:spPr>
        <p:txBody>
          <a:bodyPr wrap="square" lIns="0" rIns="0" tIns="0" bIns="0" anchor="t">
            <a:spAutoFit/>
          </a:bodyPr>
          <a:lstStyle/>
          <a:p>
            <a:pPr algn="l">
              <a:lnSpc>
                <a:spcPct val="120000"/>
              </a:lnSpc>
            </a:pPr>
            <a:r>
              <a:rPr sz="1050" b="1">
                <a:solidFill>
                  <a:srgbClr val="B92828"/>
                </a:solidFill>
                <a:latin typeface="Calibri"/>
              </a:rPr>
              <a:t>THE PERFECT SCORE IS THE PROBLEM, NOT THE ACHIEVEMENT</a:t>
            </a:r>
          </a:p>
        </p:txBody>
      </p:sp>
      <p:sp>
        <p:nvSpPr>
          <p:cNvPr id="36" name="TextBox 35"/>
          <p:cNvSpPr txBox="1"/>
          <p:nvPr/>
        </p:nvSpPr>
        <p:spPr>
          <a:xfrm>
            <a:off x="859536" y="5541264"/>
            <a:ext cx="10469880" cy="64008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On 26 test images, 1.000 is what overfitting looks like. Validation AUC never left 0.77 to 0.79. Cross-site sensitivity is exactly 0.000 in both directions: it never called a single stone case correctly on an unseen hospital.</a:t>
            </a:r>
          </a:p>
        </p:txBody>
      </p:sp>
      <p:sp>
        <p:nvSpPr>
          <p:cNvPr id="37" name="TextBox 36"/>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38" name="TextBox 37"/>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39 / 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4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Run 3: DINOv2, Expanded Data</a:t>
            </a:r>
          </a:p>
        </p:txBody>
      </p:sp>
      <p:sp>
        <p:nvSpPr>
          <p:cNvPr id="4" name="TextBox 3"/>
          <p:cNvSpPr txBox="1"/>
          <p:nvPr/>
        </p:nvSpPr>
        <p:spPr>
          <a:xfrm>
            <a:off x="566928" y="1517904"/>
            <a:ext cx="11055096" cy="411480"/>
          </a:xfrm>
          <a:prstGeom prst="rect">
            <a:avLst/>
          </a:prstGeom>
          <a:noFill/>
        </p:spPr>
        <p:txBody>
          <a:bodyPr wrap="square" lIns="0" rIns="0" tIns="0" bIns="0" anchor="t">
            <a:spAutoFit/>
          </a:bodyPr>
          <a:lstStyle/>
          <a:p>
            <a:pPr algn="l">
              <a:lnSpc>
                <a:spcPct val="120000"/>
              </a:lnSpc>
            </a:pPr>
            <a:r>
              <a:rPr sz="1350" b="0">
                <a:solidFill>
                  <a:srgbClr val="22313F"/>
                </a:solidFill>
                <a:latin typeface="Calibri"/>
              </a:rPr>
              <a:t>Same data and split. Frozen backbone, 30 epochs, no fine-tuning phase.</a:t>
            </a:r>
          </a:p>
        </p:txBody>
      </p:sp>
      <p:sp>
        <p:nvSpPr>
          <p:cNvPr id="5" name="Rounded Rectangle 4"/>
          <p:cNvSpPr/>
          <p:nvPr/>
        </p:nvSpPr>
        <p:spPr>
          <a:xfrm>
            <a:off x="566928" y="2084831"/>
            <a:ext cx="11055096" cy="2816352"/>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49424"/>
            <a:ext cx="438912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METRIC</a:t>
            </a:r>
          </a:p>
        </p:txBody>
      </p:sp>
      <p:sp>
        <p:nvSpPr>
          <p:cNvPr id="7" name="TextBox 6"/>
          <p:cNvSpPr txBox="1"/>
          <p:nvPr/>
        </p:nvSpPr>
        <p:spPr>
          <a:xfrm>
            <a:off x="539496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MIXED SPLIT</a:t>
            </a:r>
          </a:p>
        </p:txBody>
      </p:sp>
      <p:sp>
        <p:nvSpPr>
          <p:cNvPr id="8" name="TextBox 7"/>
          <p:cNvSpPr txBox="1"/>
          <p:nvPr/>
        </p:nvSpPr>
        <p:spPr>
          <a:xfrm>
            <a:off x="758952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GD to CH</a:t>
            </a:r>
          </a:p>
        </p:txBody>
      </p:sp>
      <p:sp>
        <p:nvSpPr>
          <p:cNvPr id="9" name="TextBox 8"/>
          <p:cNvSpPr txBox="1"/>
          <p:nvPr/>
        </p:nvSpPr>
        <p:spPr>
          <a:xfrm>
            <a:off x="9784080" y="2249424"/>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CH to GD</a:t>
            </a:r>
          </a:p>
        </p:txBody>
      </p:sp>
      <p:sp>
        <p:nvSpPr>
          <p:cNvPr id="10" name="TextBox 9"/>
          <p:cNvSpPr txBox="1"/>
          <p:nvPr/>
        </p:nvSpPr>
        <p:spPr>
          <a:xfrm>
            <a:off x="859536" y="2596896"/>
            <a:ext cx="438912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AUC-ROC</a:t>
            </a:r>
          </a:p>
        </p:txBody>
      </p:sp>
      <p:sp>
        <p:nvSpPr>
          <p:cNvPr id="11" name="TextBox 10"/>
          <p:cNvSpPr txBox="1"/>
          <p:nvPr/>
        </p:nvSpPr>
        <p:spPr>
          <a:xfrm>
            <a:off x="5394960" y="2596896"/>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0.9583</a:t>
            </a:r>
          </a:p>
        </p:txBody>
      </p:sp>
      <p:sp>
        <p:nvSpPr>
          <p:cNvPr id="12" name="TextBox 11"/>
          <p:cNvSpPr txBox="1"/>
          <p:nvPr/>
        </p:nvSpPr>
        <p:spPr>
          <a:xfrm>
            <a:off x="7589520" y="2596896"/>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0.5676</a:t>
            </a:r>
          </a:p>
        </p:txBody>
      </p:sp>
      <p:sp>
        <p:nvSpPr>
          <p:cNvPr id="13" name="TextBox 12"/>
          <p:cNvSpPr txBox="1"/>
          <p:nvPr/>
        </p:nvSpPr>
        <p:spPr>
          <a:xfrm>
            <a:off x="9784080" y="2596896"/>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0.3958</a:t>
            </a:r>
          </a:p>
        </p:txBody>
      </p:sp>
      <p:sp>
        <p:nvSpPr>
          <p:cNvPr id="14" name="TextBox 13"/>
          <p:cNvSpPr txBox="1"/>
          <p:nvPr/>
        </p:nvSpPr>
        <p:spPr>
          <a:xfrm>
            <a:off x="859536" y="296265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Sensitivity</a:t>
            </a:r>
          </a:p>
        </p:txBody>
      </p:sp>
      <p:sp>
        <p:nvSpPr>
          <p:cNvPr id="15" name="TextBox 14"/>
          <p:cNvSpPr txBox="1"/>
          <p:nvPr/>
        </p:nvSpPr>
        <p:spPr>
          <a:xfrm>
            <a:off x="5394960" y="296265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0.2857</a:t>
            </a:r>
          </a:p>
        </p:txBody>
      </p:sp>
      <p:sp>
        <p:nvSpPr>
          <p:cNvPr id="16" name="TextBox 15"/>
          <p:cNvSpPr txBox="1"/>
          <p:nvPr/>
        </p:nvSpPr>
        <p:spPr>
          <a:xfrm>
            <a:off x="7589520" y="296265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0.7500</a:t>
            </a:r>
          </a:p>
        </p:txBody>
      </p:sp>
      <p:sp>
        <p:nvSpPr>
          <p:cNvPr id="17" name="TextBox 16"/>
          <p:cNvSpPr txBox="1"/>
          <p:nvPr/>
        </p:nvSpPr>
        <p:spPr>
          <a:xfrm>
            <a:off x="9784080" y="296265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0.2167</a:t>
            </a:r>
          </a:p>
        </p:txBody>
      </p:sp>
      <p:sp>
        <p:nvSpPr>
          <p:cNvPr id="18" name="TextBox 17"/>
          <p:cNvSpPr txBox="1"/>
          <p:nvPr/>
        </p:nvSpPr>
        <p:spPr>
          <a:xfrm>
            <a:off x="859536" y="3328415"/>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Specificity</a:t>
            </a:r>
          </a:p>
        </p:txBody>
      </p:sp>
      <p:sp>
        <p:nvSpPr>
          <p:cNvPr id="19" name="TextBox 18"/>
          <p:cNvSpPr txBox="1"/>
          <p:nvPr/>
        </p:nvSpPr>
        <p:spPr>
          <a:xfrm>
            <a:off x="5394960" y="3328415"/>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1.0000</a:t>
            </a:r>
          </a:p>
        </p:txBody>
      </p:sp>
      <p:sp>
        <p:nvSpPr>
          <p:cNvPr id="20" name="TextBox 19"/>
          <p:cNvSpPr txBox="1"/>
          <p:nvPr/>
        </p:nvSpPr>
        <p:spPr>
          <a:xfrm>
            <a:off x="7589520" y="332841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0.4177</a:t>
            </a:r>
          </a:p>
        </p:txBody>
      </p:sp>
      <p:sp>
        <p:nvSpPr>
          <p:cNvPr id="21" name="TextBox 20"/>
          <p:cNvSpPr txBox="1"/>
          <p:nvPr/>
        </p:nvSpPr>
        <p:spPr>
          <a:xfrm>
            <a:off x="9784080" y="332841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0.7500</a:t>
            </a:r>
          </a:p>
        </p:txBody>
      </p:sp>
      <p:sp>
        <p:nvSpPr>
          <p:cNvPr id="22" name="TextBox 21"/>
          <p:cNvSpPr txBox="1"/>
          <p:nvPr/>
        </p:nvSpPr>
        <p:spPr>
          <a:xfrm>
            <a:off x="859536" y="369417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 at Sens &gt;= 0.90</a:t>
            </a:r>
          </a:p>
        </p:txBody>
      </p:sp>
      <p:sp>
        <p:nvSpPr>
          <p:cNvPr id="23" name="TextBox 22"/>
          <p:cNvSpPr txBox="1"/>
          <p:nvPr/>
        </p:nvSpPr>
        <p:spPr>
          <a:xfrm>
            <a:off x="5394960" y="369417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0.9167</a:t>
            </a:r>
          </a:p>
        </p:txBody>
      </p:sp>
      <p:sp>
        <p:nvSpPr>
          <p:cNvPr id="24" name="TextBox 23"/>
          <p:cNvSpPr txBox="1"/>
          <p:nvPr/>
        </p:nvSpPr>
        <p:spPr>
          <a:xfrm>
            <a:off x="7589520" y="369417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0.0886</a:t>
            </a:r>
          </a:p>
        </p:txBody>
      </p:sp>
      <p:sp>
        <p:nvSpPr>
          <p:cNvPr id="25" name="TextBox 24"/>
          <p:cNvSpPr txBox="1"/>
          <p:nvPr/>
        </p:nvSpPr>
        <p:spPr>
          <a:xfrm>
            <a:off x="9784080" y="369417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26" name="TextBox 25"/>
          <p:cNvSpPr txBox="1"/>
          <p:nvPr/>
        </p:nvSpPr>
        <p:spPr>
          <a:xfrm>
            <a:off x="859536" y="4059935"/>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F1</a:t>
            </a:r>
          </a:p>
        </p:txBody>
      </p:sp>
      <p:sp>
        <p:nvSpPr>
          <p:cNvPr id="27" name="TextBox 26"/>
          <p:cNvSpPr txBox="1"/>
          <p:nvPr/>
        </p:nvSpPr>
        <p:spPr>
          <a:xfrm>
            <a:off x="5394960" y="4059935"/>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0.4444</a:t>
            </a:r>
          </a:p>
        </p:txBody>
      </p:sp>
      <p:sp>
        <p:nvSpPr>
          <p:cNvPr id="28" name="TextBox 27"/>
          <p:cNvSpPr txBox="1"/>
          <p:nvPr/>
        </p:nvSpPr>
        <p:spPr>
          <a:xfrm>
            <a:off x="7589520" y="405993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0.3243</a:t>
            </a:r>
          </a:p>
        </p:txBody>
      </p:sp>
      <p:sp>
        <p:nvSpPr>
          <p:cNvPr id="29" name="TextBox 28"/>
          <p:cNvSpPr txBox="1"/>
          <p:nvPr/>
        </p:nvSpPr>
        <p:spPr>
          <a:xfrm>
            <a:off x="9784080" y="4059935"/>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0.3514</a:t>
            </a:r>
          </a:p>
        </p:txBody>
      </p:sp>
      <p:sp>
        <p:nvSpPr>
          <p:cNvPr id="30" name="TextBox 29"/>
          <p:cNvSpPr txBox="1"/>
          <p:nvPr/>
        </p:nvSpPr>
        <p:spPr>
          <a:xfrm>
            <a:off x="859536" y="4425696"/>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Accuracy</a:t>
            </a:r>
          </a:p>
        </p:txBody>
      </p:sp>
      <p:sp>
        <p:nvSpPr>
          <p:cNvPr id="31" name="TextBox 30"/>
          <p:cNvSpPr txBox="1"/>
          <p:nvPr/>
        </p:nvSpPr>
        <p:spPr>
          <a:xfrm>
            <a:off x="5394960" y="4425696"/>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0.6154</a:t>
            </a:r>
          </a:p>
        </p:txBody>
      </p:sp>
      <p:sp>
        <p:nvSpPr>
          <p:cNvPr id="32" name="TextBox 31"/>
          <p:cNvSpPr txBox="1"/>
          <p:nvPr/>
        </p:nvSpPr>
        <p:spPr>
          <a:xfrm>
            <a:off x="7589520" y="442569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0.4737</a:t>
            </a:r>
          </a:p>
        </p:txBody>
      </p:sp>
      <p:sp>
        <p:nvSpPr>
          <p:cNvPr id="33" name="TextBox 32"/>
          <p:cNvSpPr txBox="1"/>
          <p:nvPr/>
        </p:nvSpPr>
        <p:spPr>
          <a:xfrm>
            <a:off x="9784080" y="4425696"/>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0.2500</a:t>
            </a:r>
          </a:p>
        </p:txBody>
      </p:sp>
      <p:sp>
        <p:nvSpPr>
          <p:cNvPr id="34" name="Rounded Rectangle 33"/>
          <p:cNvSpPr/>
          <p:nvPr/>
        </p:nvSpPr>
        <p:spPr>
          <a:xfrm>
            <a:off x="566928" y="5029200"/>
            <a:ext cx="11055096" cy="12344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5230368"/>
            <a:ext cx="10469880" cy="256032"/>
          </a:xfrm>
          <a:prstGeom prst="rect">
            <a:avLst/>
          </a:prstGeom>
          <a:noFill/>
        </p:spPr>
        <p:txBody>
          <a:bodyPr wrap="square" lIns="0" rIns="0" tIns="0" bIns="0" anchor="t">
            <a:spAutoFit/>
          </a:bodyPr>
          <a:lstStyle/>
          <a:p>
            <a:pPr algn="l">
              <a:lnSpc>
                <a:spcPct val="120000"/>
              </a:lnSpc>
            </a:pPr>
            <a:r>
              <a:rPr sz="1050" b="1">
                <a:solidFill>
                  <a:srgbClr val="1C7293"/>
                </a:solidFill>
                <a:latin typeface="Calibri"/>
              </a:rPr>
              <a:t>SENSITIVITY 0.286 WAS A RED HERRING</a:t>
            </a:r>
          </a:p>
        </p:txBody>
      </p:sp>
      <p:sp>
        <p:nvSpPr>
          <p:cNvPr id="36" name="TextBox 35"/>
          <p:cNvSpPr txBox="1"/>
          <p:nvPr/>
        </p:nvSpPr>
        <p:spPr>
          <a:xfrm>
            <a:off x="859536" y="5541264"/>
            <a:ext cx="10469880" cy="64008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Only 4 of 14 stones caught at threshold 0.5, yet Spec at Sens&gt;=0.90 is 0.917: at some other threshold the model catches 90% of stones and still clears 92% of normals. The information was there. The threshold was wrong, and so was a stale class weight left over from the old dataset.</a:t>
            </a:r>
          </a:p>
        </p:txBody>
      </p:sp>
      <p:sp>
        <p:nvSpPr>
          <p:cNvPr id="37" name="TextBox 36"/>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38" name="TextBox 37"/>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40 /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5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Run 4: DINOv2 Improved, Current Best</a:t>
            </a:r>
          </a:p>
        </p:txBody>
      </p:sp>
      <p:sp>
        <p:nvSpPr>
          <p:cNvPr id="4" name="TextBox 3"/>
          <p:cNvSpPr txBox="1"/>
          <p:nvPr/>
        </p:nvSpPr>
        <p:spPr>
          <a:xfrm>
            <a:off x="566928" y="1463040"/>
            <a:ext cx="11055096" cy="365760"/>
          </a:xfrm>
          <a:prstGeom prst="rect">
            <a:avLst/>
          </a:prstGeom>
          <a:noFill/>
        </p:spPr>
        <p:txBody>
          <a:bodyPr wrap="square" lIns="0" rIns="0" tIns="0" bIns="0" anchor="t">
            <a:spAutoFit/>
          </a:bodyPr>
          <a:lstStyle/>
          <a:p>
            <a:pPr algn="l">
              <a:lnSpc>
                <a:spcPct val="120000"/>
              </a:lnSpc>
            </a:pPr>
            <a:r>
              <a:rPr sz="1300" b="0">
                <a:solidFill>
                  <a:srgbClr val="22313F"/>
                </a:solidFill>
                <a:latin typeface="Calibri"/>
              </a:rPr>
              <a:t>Three changes: class weight corrected from 6.9 to 1.0, Gaussian noise added, threshold chosen from validation instead of defaulting to 0.5.</a:t>
            </a:r>
          </a:p>
        </p:txBody>
      </p:sp>
      <p:sp>
        <p:nvSpPr>
          <p:cNvPr id="5" name="Rounded Rectangle 4"/>
          <p:cNvSpPr/>
          <p:nvPr/>
        </p:nvSpPr>
        <p:spPr>
          <a:xfrm>
            <a:off x="566928" y="1956816"/>
            <a:ext cx="11055096" cy="3054096"/>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121408"/>
            <a:ext cx="438912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METRIC</a:t>
            </a:r>
          </a:p>
        </p:txBody>
      </p:sp>
      <p:sp>
        <p:nvSpPr>
          <p:cNvPr id="7" name="TextBox 6"/>
          <p:cNvSpPr txBox="1"/>
          <p:nvPr/>
        </p:nvSpPr>
        <p:spPr>
          <a:xfrm>
            <a:off x="5394960" y="2121408"/>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MIXED SPLIT</a:t>
            </a:r>
          </a:p>
        </p:txBody>
      </p:sp>
      <p:sp>
        <p:nvSpPr>
          <p:cNvPr id="8" name="TextBox 7"/>
          <p:cNvSpPr txBox="1"/>
          <p:nvPr/>
        </p:nvSpPr>
        <p:spPr>
          <a:xfrm>
            <a:off x="7589520" y="2121408"/>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GD to CH</a:t>
            </a:r>
          </a:p>
        </p:txBody>
      </p:sp>
      <p:sp>
        <p:nvSpPr>
          <p:cNvPr id="9" name="TextBox 8"/>
          <p:cNvSpPr txBox="1"/>
          <p:nvPr/>
        </p:nvSpPr>
        <p:spPr>
          <a:xfrm>
            <a:off x="9784080" y="2121408"/>
            <a:ext cx="2011680" cy="256032"/>
          </a:xfrm>
          <a:prstGeom prst="rect">
            <a:avLst/>
          </a:prstGeom>
          <a:noFill/>
        </p:spPr>
        <p:txBody>
          <a:bodyPr wrap="square" lIns="0" rIns="0" tIns="0" bIns="0" anchor="t">
            <a:spAutoFit/>
          </a:bodyPr>
          <a:lstStyle/>
          <a:p>
            <a:pPr algn="l">
              <a:lnSpc>
                <a:spcPct val="120000"/>
              </a:lnSpc>
            </a:pPr>
            <a:r>
              <a:rPr sz="1000" b="1">
                <a:solidFill>
                  <a:srgbClr val="1C7293"/>
                </a:solidFill>
                <a:latin typeface="Calibri"/>
              </a:rPr>
              <a:t>CH to GD</a:t>
            </a:r>
          </a:p>
        </p:txBody>
      </p:sp>
      <p:sp>
        <p:nvSpPr>
          <p:cNvPr id="10" name="TextBox 9"/>
          <p:cNvSpPr txBox="1"/>
          <p:nvPr/>
        </p:nvSpPr>
        <p:spPr>
          <a:xfrm>
            <a:off x="859536" y="2468880"/>
            <a:ext cx="438912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AUC-ROC</a:t>
            </a:r>
          </a:p>
        </p:txBody>
      </p:sp>
      <p:sp>
        <p:nvSpPr>
          <p:cNvPr id="11" name="TextBox 10"/>
          <p:cNvSpPr txBox="1"/>
          <p:nvPr/>
        </p:nvSpPr>
        <p:spPr>
          <a:xfrm>
            <a:off x="5394960" y="2468880"/>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0.9524</a:t>
            </a:r>
          </a:p>
        </p:txBody>
      </p:sp>
      <p:sp>
        <p:nvSpPr>
          <p:cNvPr id="12" name="TextBox 11"/>
          <p:cNvSpPr txBox="1"/>
          <p:nvPr/>
        </p:nvSpPr>
        <p:spPr>
          <a:xfrm>
            <a:off x="7589520" y="2468880"/>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0.4747</a:t>
            </a:r>
          </a:p>
        </p:txBody>
      </p:sp>
      <p:sp>
        <p:nvSpPr>
          <p:cNvPr id="13" name="TextBox 12"/>
          <p:cNvSpPr txBox="1"/>
          <p:nvPr/>
        </p:nvSpPr>
        <p:spPr>
          <a:xfrm>
            <a:off x="9784080" y="2468880"/>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0.3583</a:t>
            </a:r>
          </a:p>
        </p:txBody>
      </p:sp>
      <p:sp>
        <p:nvSpPr>
          <p:cNvPr id="14" name="TextBox 13"/>
          <p:cNvSpPr txBox="1"/>
          <p:nvPr/>
        </p:nvSpPr>
        <p:spPr>
          <a:xfrm>
            <a:off x="859536" y="2816352"/>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Sensitivity at 0.50</a:t>
            </a:r>
          </a:p>
        </p:txBody>
      </p:sp>
      <p:sp>
        <p:nvSpPr>
          <p:cNvPr id="15" name="TextBox 14"/>
          <p:cNvSpPr txBox="1"/>
          <p:nvPr/>
        </p:nvSpPr>
        <p:spPr>
          <a:xfrm>
            <a:off x="5394960" y="2816352"/>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0.7857</a:t>
            </a:r>
          </a:p>
        </p:txBody>
      </p:sp>
      <p:sp>
        <p:nvSpPr>
          <p:cNvPr id="16" name="TextBox 15"/>
          <p:cNvSpPr txBox="1"/>
          <p:nvPr/>
        </p:nvSpPr>
        <p:spPr>
          <a:xfrm>
            <a:off x="7589520" y="2816352"/>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0.8750</a:t>
            </a:r>
          </a:p>
        </p:txBody>
      </p:sp>
      <p:sp>
        <p:nvSpPr>
          <p:cNvPr id="17" name="TextBox 16"/>
          <p:cNvSpPr txBox="1"/>
          <p:nvPr/>
        </p:nvSpPr>
        <p:spPr>
          <a:xfrm>
            <a:off x="9784080" y="2816352"/>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0.7833</a:t>
            </a:r>
          </a:p>
        </p:txBody>
      </p:sp>
      <p:sp>
        <p:nvSpPr>
          <p:cNvPr id="18" name="TextBox 17"/>
          <p:cNvSpPr txBox="1"/>
          <p:nvPr/>
        </p:nvSpPr>
        <p:spPr>
          <a:xfrm>
            <a:off x="859536" y="3163824"/>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Specificity at 0.50</a:t>
            </a:r>
          </a:p>
        </p:txBody>
      </p:sp>
      <p:sp>
        <p:nvSpPr>
          <p:cNvPr id="19" name="TextBox 18"/>
          <p:cNvSpPr txBox="1"/>
          <p:nvPr/>
        </p:nvSpPr>
        <p:spPr>
          <a:xfrm>
            <a:off x="5394960" y="3163824"/>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1.0000</a:t>
            </a:r>
          </a:p>
        </p:txBody>
      </p:sp>
      <p:sp>
        <p:nvSpPr>
          <p:cNvPr id="20" name="TextBox 19"/>
          <p:cNvSpPr txBox="1"/>
          <p:nvPr/>
        </p:nvSpPr>
        <p:spPr>
          <a:xfrm>
            <a:off x="7589520" y="316382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0.1646</a:t>
            </a:r>
          </a:p>
        </p:txBody>
      </p:sp>
      <p:sp>
        <p:nvSpPr>
          <p:cNvPr id="21" name="TextBox 20"/>
          <p:cNvSpPr txBox="1"/>
          <p:nvPr/>
        </p:nvSpPr>
        <p:spPr>
          <a:xfrm>
            <a:off x="9784080" y="3163824"/>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22" name="TextBox 21"/>
          <p:cNvSpPr txBox="1"/>
          <p:nvPr/>
        </p:nvSpPr>
        <p:spPr>
          <a:xfrm>
            <a:off x="859536" y="3511296"/>
            <a:ext cx="4389120" cy="27432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Optimal threshold</a:t>
            </a:r>
          </a:p>
        </p:txBody>
      </p:sp>
      <p:sp>
        <p:nvSpPr>
          <p:cNvPr id="23" name="TextBox 22"/>
          <p:cNvSpPr txBox="1"/>
          <p:nvPr/>
        </p:nvSpPr>
        <p:spPr>
          <a:xfrm>
            <a:off x="5394960" y="3511296"/>
            <a:ext cx="2011680" cy="27432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0.2344</a:t>
            </a:r>
          </a:p>
        </p:txBody>
      </p:sp>
      <p:sp>
        <p:nvSpPr>
          <p:cNvPr id="24" name="TextBox 23"/>
          <p:cNvSpPr txBox="1"/>
          <p:nvPr/>
        </p:nvSpPr>
        <p:spPr>
          <a:xfrm>
            <a:off x="7589520" y="3511296"/>
            <a:ext cx="2011680" cy="27432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0.2863</a:t>
            </a:r>
          </a:p>
        </p:txBody>
      </p:sp>
      <p:sp>
        <p:nvSpPr>
          <p:cNvPr id="25" name="TextBox 24"/>
          <p:cNvSpPr txBox="1"/>
          <p:nvPr/>
        </p:nvSpPr>
        <p:spPr>
          <a:xfrm>
            <a:off x="9784080" y="3511296"/>
            <a:ext cx="2011680" cy="274320"/>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0.4391</a:t>
            </a:r>
          </a:p>
        </p:txBody>
      </p:sp>
      <p:sp>
        <p:nvSpPr>
          <p:cNvPr id="26" name="TextBox 25"/>
          <p:cNvSpPr txBox="1"/>
          <p:nvPr/>
        </p:nvSpPr>
        <p:spPr>
          <a:xfrm>
            <a:off x="859536" y="3858768"/>
            <a:ext cx="438912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Sensitivity at opt</a:t>
            </a:r>
          </a:p>
        </p:txBody>
      </p:sp>
      <p:sp>
        <p:nvSpPr>
          <p:cNvPr id="27" name="TextBox 26"/>
          <p:cNvSpPr txBox="1"/>
          <p:nvPr/>
        </p:nvSpPr>
        <p:spPr>
          <a:xfrm>
            <a:off x="5394960" y="3858768"/>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0.9286</a:t>
            </a:r>
          </a:p>
        </p:txBody>
      </p:sp>
      <p:sp>
        <p:nvSpPr>
          <p:cNvPr id="28" name="TextBox 27"/>
          <p:cNvSpPr txBox="1"/>
          <p:nvPr/>
        </p:nvSpPr>
        <p:spPr>
          <a:xfrm>
            <a:off x="7589520" y="3858768"/>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1.0000</a:t>
            </a:r>
          </a:p>
        </p:txBody>
      </p:sp>
      <p:sp>
        <p:nvSpPr>
          <p:cNvPr id="29" name="TextBox 28"/>
          <p:cNvSpPr txBox="1"/>
          <p:nvPr/>
        </p:nvSpPr>
        <p:spPr>
          <a:xfrm>
            <a:off x="9784080" y="3858768"/>
            <a:ext cx="2011680" cy="274320"/>
          </a:xfrm>
          <a:prstGeom prst="rect">
            <a:avLst/>
          </a:prstGeom>
          <a:noFill/>
        </p:spPr>
        <p:txBody>
          <a:bodyPr wrap="square" lIns="0" rIns="0" tIns="0" bIns="0" anchor="t">
            <a:spAutoFit/>
          </a:bodyPr>
          <a:lstStyle/>
          <a:p>
            <a:pPr algn="l">
              <a:lnSpc>
                <a:spcPct val="120000"/>
              </a:lnSpc>
            </a:pPr>
            <a:r>
              <a:rPr sz="1150" b="1">
                <a:solidFill>
                  <a:srgbClr val="187A3C"/>
                </a:solidFill>
                <a:latin typeface="Calibri"/>
              </a:rPr>
              <a:t>0.8500</a:t>
            </a:r>
          </a:p>
        </p:txBody>
      </p:sp>
      <p:sp>
        <p:nvSpPr>
          <p:cNvPr id="30" name="TextBox 29"/>
          <p:cNvSpPr txBox="1"/>
          <p:nvPr/>
        </p:nvSpPr>
        <p:spPr>
          <a:xfrm>
            <a:off x="859536" y="4206240"/>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Specificity at opt</a:t>
            </a:r>
          </a:p>
        </p:txBody>
      </p:sp>
      <p:sp>
        <p:nvSpPr>
          <p:cNvPr id="31" name="TextBox 30"/>
          <p:cNvSpPr txBox="1"/>
          <p:nvPr/>
        </p:nvSpPr>
        <p:spPr>
          <a:xfrm>
            <a:off x="5394960" y="4206240"/>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0.5000</a:t>
            </a:r>
          </a:p>
        </p:txBody>
      </p:sp>
      <p:sp>
        <p:nvSpPr>
          <p:cNvPr id="32" name="TextBox 31"/>
          <p:cNvSpPr txBox="1"/>
          <p:nvPr/>
        </p:nvSpPr>
        <p:spPr>
          <a:xfrm>
            <a:off x="7589520" y="4206240"/>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0.0506</a:t>
            </a:r>
          </a:p>
        </p:txBody>
      </p:sp>
      <p:sp>
        <p:nvSpPr>
          <p:cNvPr id="33" name="TextBox 32"/>
          <p:cNvSpPr txBox="1"/>
          <p:nvPr/>
        </p:nvSpPr>
        <p:spPr>
          <a:xfrm>
            <a:off x="9784080" y="4206240"/>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0.0000</a:t>
            </a:r>
          </a:p>
        </p:txBody>
      </p:sp>
      <p:sp>
        <p:nvSpPr>
          <p:cNvPr id="34" name="TextBox 33"/>
          <p:cNvSpPr txBox="1"/>
          <p:nvPr/>
        </p:nvSpPr>
        <p:spPr>
          <a:xfrm>
            <a:off x="859536" y="4553712"/>
            <a:ext cx="438912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F1 at opt</a:t>
            </a:r>
          </a:p>
        </p:txBody>
      </p:sp>
      <p:sp>
        <p:nvSpPr>
          <p:cNvPr id="35" name="TextBox 34"/>
          <p:cNvSpPr txBox="1"/>
          <p:nvPr/>
        </p:nvSpPr>
        <p:spPr>
          <a:xfrm>
            <a:off x="5394960" y="4553712"/>
            <a:ext cx="2011680" cy="274320"/>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0.7879</a:t>
            </a:r>
          </a:p>
        </p:txBody>
      </p:sp>
      <p:sp>
        <p:nvSpPr>
          <p:cNvPr id="36" name="TextBox 35"/>
          <p:cNvSpPr txBox="1"/>
          <p:nvPr/>
        </p:nvSpPr>
        <p:spPr>
          <a:xfrm>
            <a:off x="7589520" y="4553712"/>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0.2991</a:t>
            </a:r>
          </a:p>
        </p:txBody>
      </p:sp>
      <p:sp>
        <p:nvSpPr>
          <p:cNvPr id="37" name="TextBox 36"/>
          <p:cNvSpPr txBox="1"/>
          <p:nvPr/>
        </p:nvSpPr>
        <p:spPr>
          <a:xfrm>
            <a:off x="9784080" y="4553712"/>
            <a:ext cx="2011680" cy="274320"/>
          </a:xfrm>
          <a:prstGeom prst="rect">
            <a:avLst/>
          </a:prstGeom>
          <a:noFill/>
        </p:spPr>
        <p:txBody>
          <a:bodyPr wrap="square" lIns="0" rIns="0" tIns="0" bIns="0" anchor="t">
            <a:spAutoFit/>
          </a:bodyPr>
          <a:lstStyle/>
          <a:p>
            <a:pPr algn="l">
              <a:lnSpc>
                <a:spcPct val="120000"/>
              </a:lnSpc>
            </a:pPr>
            <a:r>
              <a:rPr sz="1150" b="0">
                <a:solidFill>
                  <a:srgbClr val="60707E"/>
                </a:solidFill>
                <a:latin typeface="Calibri"/>
              </a:rPr>
              <a:t>0.8870</a:t>
            </a:r>
          </a:p>
        </p:txBody>
      </p:sp>
      <p:sp>
        <p:nvSpPr>
          <p:cNvPr id="38" name="Rounded Rectangle 37"/>
          <p:cNvSpPr/>
          <p:nvPr/>
        </p:nvSpPr>
        <p:spPr>
          <a:xfrm>
            <a:off x="566928" y="5074920"/>
            <a:ext cx="11055096" cy="118872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 y="5266944"/>
            <a:ext cx="10469880" cy="256032"/>
          </a:xfrm>
          <a:prstGeom prst="rect">
            <a:avLst/>
          </a:prstGeom>
          <a:noFill/>
        </p:spPr>
        <p:txBody>
          <a:bodyPr wrap="square" lIns="0" rIns="0" tIns="0" bIns="0" anchor="t">
            <a:spAutoFit/>
          </a:bodyPr>
          <a:lstStyle/>
          <a:p>
            <a:pPr algn="l">
              <a:lnSpc>
                <a:spcPct val="120000"/>
              </a:lnSpc>
            </a:pPr>
            <a:r>
              <a:rPr sz="1050" b="1">
                <a:solidFill>
                  <a:srgbClr val="187A3C"/>
                </a:solidFill>
                <a:latin typeface="Calibri"/>
              </a:rPr>
              <a:t>ONE STALE CONSTANT WAS THE BIGGEST WIN IN THE PROJECT</a:t>
            </a:r>
          </a:p>
        </p:txBody>
      </p:sp>
      <p:sp>
        <p:nvSpPr>
          <p:cNvPr id="40" name="TextBox 39"/>
          <p:cNvSpPr txBox="1"/>
          <p:nvPr/>
        </p:nvSpPr>
        <p:spPr>
          <a:xfrm>
            <a:off x="859536" y="5577840"/>
            <a:ext cx="10469880" cy="594360"/>
          </a:xfrm>
          <a:prstGeom prst="rect">
            <a:avLst/>
          </a:prstGeom>
          <a:noFill/>
        </p:spPr>
        <p:txBody>
          <a:bodyPr wrap="square" lIns="0" rIns="0" tIns="0" bIns="0" anchor="t">
            <a:spAutoFit/>
          </a:bodyPr>
          <a:lstStyle/>
          <a:p>
            <a:pPr algn="l">
              <a:lnSpc>
                <a:spcPct val="120000"/>
              </a:lnSpc>
            </a:pPr>
            <a:r>
              <a:rPr sz="1250" b="0">
                <a:solidFill>
                  <a:srgbClr val="22313F"/>
                </a:solidFill>
                <a:latin typeface="Calibri"/>
              </a:rPr>
              <a:t>Correcting the class weight lifted mixed sensitivity from 0.286 to 0.786 with no change to data or architecture. At the optimal threshold the model catches 13 of 14 stones while misclassifying 6 of 12 normals, the right trade when a missed stone is the dangerous error.</a:t>
            </a:r>
          </a:p>
        </p:txBody>
      </p:sp>
      <p:sp>
        <p:nvSpPr>
          <p:cNvPr id="41" name="TextBox 40"/>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42" name="TextBox 41"/>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41 / 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t">
            <a:spAutoFit/>
          </a:bodyPr>
          <a:lstStyle/>
          <a:p>
            <a:pPr algn="l">
              <a:lnSpc>
                <a:spcPct val="120000"/>
              </a:lnSpc>
            </a:pPr>
            <a:r>
              <a:rPr sz="1150" b="1">
                <a:solidFill>
                  <a:srgbClr val="1C7293"/>
                </a:solidFill>
                <a:latin typeface="Calibri"/>
              </a:rPr>
              <a:t>RESULTS · 6 OF 6</a:t>
            </a:r>
          </a:p>
        </p:txBody>
      </p:sp>
      <p:sp>
        <p:nvSpPr>
          <p:cNvPr id="3" name="TextBox 2"/>
          <p:cNvSpPr txBox="1"/>
          <p:nvPr/>
        </p:nvSpPr>
        <p:spPr>
          <a:xfrm>
            <a:off x="566928" y="676656"/>
            <a:ext cx="11055096" cy="566928"/>
          </a:xfrm>
          <a:prstGeom prst="rect">
            <a:avLst/>
          </a:prstGeom>
          <a:noFill/>
        </p:spPr>
        <p:txBody>
          <a:bodyPr wrap="square" lIns="0" rIns="0" tIns="0" bIns="0" anchor="t">
            <a:spAutoFit/>
          </a:bodyPr>
          <a:lstStyle/>
          <a:p>
            <a:pPr algn="l">
              <a:lnSpc>
                <a:spcPct val="120000"/>
              </a:lnSpc>
            </a:pPr>
            <a:r>
              <a:rPr sz="3000" b="1">
                <a:solidFill>
                  <a:srgbClr val="0B2A4A"/>
                </a:solidFill>
                <a:latin typeface="Calibri"/>
              </a:rPr>
              <a:t>What All Four Runs Show</a:t>
            </a:r>
          </a:p>
        </p:txBody>
      </p:sp>
      <p:sp>
        <p:nvSpPr>
          <p:cNvPr id="4" name="Rounded Rectangle 3"/>
          <p:cNvSpPr/>
          <p:nvPr/>
        </p:nvSpPr>
        <p:spPr>
          <a:xfrm>
            <a:off x="566928" y="1591056"/>
            <a:ext cx="11055096" cy="10058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828800"/>
            <a:ext cx="530352" cy="53035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1</a:t>
            </a:r>
          </a:p>
        </p:txBody>
      </p:sp>
      <p:sp>
        <p:nvSpPr>
          <p:cNvPr id="6" name="TextBox 5"/>
          <p:cNvSpPr txBox="1"/>
          <p:nvPr/>
        </p:nvSpPr>
        <p:spPr>
          <a:xfrm>
            <a:off x="1664208" y="1755648"/>
            <a:ext cx="9646920"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Expanding the data fixed imbalance, not the confound</a:t>
            </a:r>
          </a:p>
        </p:txBody>
      </p:sp>
      <p:sp>
        <p:nvSpPr>
          <p:cNvPr id="7" name="TextBox 6"/>
          <p:cNvSpPr txBox="1"/>
          <p:nvPr/>
        </p:nvSpPr>
        <p:spPr>
          <a:xfrm>
            <a:off x="1664208" y="2084832"/>
            <a:ext cx="9646920" cy="438912"/>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95 to 194 frames took the class ratio from 6.9:1 to 1.06:1. Cross-site scores did not improve, because the new data was almost all Chughtai stones and the normal side stayed at 4 Gulab Devi frames.</a:t>
            </a:r>
          </a:p>
        </p:txBody>
      </p:sp>
      <p:sp>
        <p:nvSpPr>
          <p:cNvPr id="8" name="Rounded Rectangle 7"/>
          <p:cNvSpPr/>
          <p:nvPr/>
        </p:nvSpPr>
        <p:spPr>
          <a:xfrm>
            <a:off x="566928" y="2761488"/>
            <a:ext cx="11055096" cy="10058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2999232"/>
            <a:ext cx="530352" cy="53035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2</a:t>
            </a:r>
          </a:p>
        </p:txBody>
      </p:sp>
      <p:sp>
        <p:nvSpPr>
          <p:cNvPr id="10" name="TextBox 9"/>
          <p:cNvSpPr txBox="1"/>
          <p:nvPr/>
        </p:nvSpPr>
        <p:spPr>
          <a:xfrm>
            <a:off x="1664208" y="2926080"/>
            <a:ext cx="9646920"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A frozen backbone generalises better than a fine-tuned one</a:t>
            </a:r>
          </a:p>
        </p:txBody>
      </p:sp>
      <p:sp>
        <p:nvSpPr>
          <p:cNvPr id="11" name="TextBox 10"/>
          <p:cNvSpPr txBox="1"/>
          <p:nvPr/>
        </p:nvSpPr>
        <p:spPr>
          <a:xfrm>
            <a:off x="1664208" y="3255264"/>
            <a:ext cx="9646920" cy="438912"/>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DINOv2 beat EfficientNet in both cross-site directions. Unfrozen blocks can adapt to machine-specific texture and so they do; a frozen backbone can only reweight features that existed before it saw this data.</a:t>
            </a:r>
          </a:p>
        </p:txBody>
      </p:sp>
      <p:sp>
        <p:nvSpPr>
          <p:cNvPr id="12" name="Rounded Rectangle 11"/>
          <p:cNvSpPr/>
          <p:nvPr/>
        </p:nvSpPr>
        <p:spPr>
          <a:xfrm>
            <a:off x="566928" y="3931920"/>
            <a:ext cx="11055096" cy="10058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 y="4169663"/>
            <a:ext cx="530352" cy="53035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3</a:t>
            </a:r>
          </a:p>
        </p:txBody>
      </p:sp>
      <p:sp>
        <p:nvSpPr>
          <p:cNvPr id="14" name="TextBox 13"/>
          <p:cNvSpPr txBox="1"/>
          <p:nvPr/>
        </p:nvSpPr>
        <p:spPr>
          <a:xfrm>
            <a:off x="1664208" y="4096511"/>
            <a:ext cx="9646920" cy="292608"/>
          </a:xfrm>
          <a:prstGeom prst="rect">
            <a:avLst/>
          </a:prstGeom>
          <a:noFill/>
        </p:spPr>
        <p:txBody>
          <a:bodyPr wrap="square" lIns="0" rIns="0" tIns="0" bIns="0" anchor="t">
            <a:spAutoFit/>
          </a:bodyPr>
          <a:lstStyle/>
          <a:p>
            <a:pPr algn="l">
              <a:lnSpc>
                <a:spcPct val="120000"/>
              </a:lnSpc>
            </a:pPr>
            <a:r>
              <a:rPr sz="1400" b="1">
                <a:solidFill>
                  <a:srgbClr val="0B2A4A"/>
                </a:solidFill>
                <a:latin typeface="Calibri"/>
              </a:rPr>
              <a:t>Calibration mattered more than architecture</a:t>
            </a:r>
          </a:p>
        </p:txBody>
      </p:sp>
      <p:sp>
        <p:nvSpPr>
          <p:cNvPr id="15" name="TextBox 14"/>
          <p:cNvSpPr txBox="1"/>
          <p:nvPr/>
        </p:nvSpPr>
        <p:spPr>
          <a:xfrm>
            <a:off x="1664208" y="4425696"/>
            <a:ext cx="9646920" cy="438912"/>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The largest single gain in usable performance came from correcting one stale constant, not from changing models or collecting more data.</a:t>
            </a:r>
          </a:p>
        </p:txBody>
      </p:sp>
      <p:sp>
        <p:nvSpPr>
          <p:cNvPr id="16" name="Rounded Rectangle 15"/>
          <p:cNvSpPr/>
          <p:nvPr/>
        </p:nvSpPr>
        <p:spPr>
          <a:xfrm>
            <a:off x="566928" y="5102352"/>
            <a:ext cx="11055096" cy="1005840"/>
          </a:xfrm>
          <a:prstGeom prst="roundRect">
            <a:avLst>
              <a:gd name="adj" fmla="val 2400"/>
            </a:avLst>
          </a:prstGeom>
          <a:solidFill>
            <a:srgbClr val="FFFFFF"/>
          </a:solidFill>
          <a:ln w="1270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7824" y="5340096"/>
            <a:ext cx="530352" cy="53035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4</a:t>
            </a:r>
          </a:p>
        </p:txBody>
      </p:sp>
      <p:sp>
        <p:nvSpPr>
          <p:cNvPr id="18" name="TextBox 17"/>
          <p:cNvSpPr txBox="1"/>
          <p:nvPr/>
        </p:nvSpPr>
        <p:spPr>
          <a:xfrm>
            <a:off x="1664208" y="5266944"/>
            <a:ext cx="9646920" cy="292608"/>
          </a:xfrm>
          <a:prstGeom prst="rect">
            <a:avLst/>
          </a:prstGeom>
          <a:noFill/>
        </p:spPr>
        <p:txBody>
          <a:bodyPr wrap="square" lIns="0" rIns="0" tIns="0" bIns="0" anchor="t">
            <a:spAutoFit/>
          </a:bodyPr>
          <a:lstStyle/>
          <a:p>
            <a:pPr algn="l">
              <a:lnSpc>
                <a:spcPct val="120000"/>
              </a:lnSpc>
            </a:pPr>
            <a:r>
              <a:rPr sz="1400" b="1">
                <a:solidFill>
                  <a:srgbClr val="B92828"/>
                </a:solidFill>
                <a:latin typeface="Calibri"/>
              </a:rPr>
              <a:t>Mixed-split AUC has never predicted cross-site performance</a:t>
            </a:r>
          </a:p>
        </p:txBody>
      </p:sp>
      <p:sp>
        <p:nvSpPr>
          <p:cNvPr id="19" name="TextBox 18"/>
          <p:cNvSpPr txBox="1"/>
          <p:nvPr/>
        </p:nvSpPr>
        <p:spPr>
          <a:xfrm>
            <a:off x="1664208" y="5596128"/>
            <a:ext cx="9646920" cy="438912"/>
          </a:xfrm>
          <a:prstGeom prst="rect">
            <a:avLst/>
          </a:prstGeom>
          <a:noFill/>
        </p:spPr>
        <p:txBody>
          <a:bodyPr wrap="square" lIns="0" rIns="0" tIns="0" bIns="0" anchor="t">
            <a:spAutoFit/>
          </a:bodyPr>
          <a:lstStyle/>
          <a:p>
            <a:pPr algn="l">
              <a:lnSpc>
                <a:spcPct val="120000"/>
              </a:lnSpc>
            </a:pPr>
            <a:r>
              <a:rPr sz="1150" b="0">
                <a:solidFill>
                  <a:srgbClr val="22313F"/>
                </a:solidFill>
                <a:latin typeface="Calibri"/>
              </a:rPr>
              <a:t>It sat between 0.83 and 1.00 in all four runs while cross-site stayed at or below random. Quoting it alone would misrepresent every run in this project.</a:t>
            </a:r>
          </a:p>
        </p:txBody>
      </p:sp>
      <p:sp>
        <p:nvSpPr>
          <p:cNvPr id="20" name="TextBox 19"/>
          <p:cNvSpPr txBox="1"/>
          <p:nvPr/>
        </p:nvSpPr>
        <p:spPr>
          <a:xfrm>
            <a:off x="566928" y="6291072"/>
            <a:ext cx="11055096" cy="274320"/>
          </a:xfrm>
          <a:prstGeom prst="rect">
            <a:avLst/>
          </a:prstGeom>
          <a:noFill/>
        </p:spPr>
        <p:txBody>
          <a:bodyPr wrap="square" lIns="0" rIns="0" tIns="0" bIns="0" anchor="t">
            <a:spAutoFit/>
          </a:bodyPr>
          <a:lstStyle/>
          <a:p>
            <a:pPr algn="l">
              <a:lnSpc>
                <a:spcPct val="120000"/>
              </a:lnSpc>
            </a:pPr>
            <a:r>
              <a:rPr sz="1150" b="1">
                <a:solidFill>
                  <a:srgbClr val="60707E"/>
                </a:solidFill>
                <a:latin typeface="Calibri"/>
              </a:rPr>
              <a:t>Every number above rests on a 26-image test set, fails cross-site, and is unverified by GradCAM.</a:t>
            </a:r>
          </a:p>
        </p:txBody>
      </p:sp>
      <p:sp>
        <p:nvSpPr>
          <p:cNvPr id="21" name="TextBox 20"/>
          <p:cNvSpPr txBox="1"/>
          <p:nvPr/>
        </p:nvSpPr>
        <p:spPr>
          <a:xfrm>
            <a:off x="566928" y="6437376"/>
            <a:ext cx="6400800" cy="274320"/>
          </a:xfrm>
          <a:prstGeom prst="rect">
            <a:avLst/>
          </a:prstGeom>
          <a:noFill/>
        </p:spPr>
        <p:txBody>
          <a:bodyPr wrap="square" lIns="0" rIns="0" tIns="0" bIns="0" anchor="t">
            <a:spAutoFit/>
          </a:bodyPr>
          <a:lstStyle/>
          <a:p>
            <a:pPr algn="l">
              <a:lnSpc>
                <a:spcPct val="120000"/>
              </a:lnSpc>
            </a:pPr>
            <a:r>
              <a:rPr sz="1000" b="0">
                <a:solidFill>
                  <a:srgbClr val="9AABB8"/>
                </a:solidFill>
                <a:latin typeface="Calibri"/>
              </a:rPr>
              <a:t>GALLSTONE ULTRASOUND DATASET</a:t>
            </a:r>
          </a:p>
        </p:txBody>
      </p:sp>
      <p:sp>
        <p:nvSpPr>
          <p:cNvPr id="22" name="TextBox 21"/>
          <p:cNvSpPr txBox="1"/>
          <p:nvPr/>
        </p:nvSpPr>
        <p:spPr>
          <a:xfrm>
            <a:off x="10250424" y="6437376"/>
            <a:ext cx="1371600" cy="274320"/>
          </a:xfrm>
          <a:prstGeom prst="rect">
            <a:avLst/>
          </a:prstGeom>
          <a:noFill/>
        </p:spPr>
        <p:txBody>
          <a:bodyPr wrap="square" lIns="0" rIns="0" tIns="0" bIns="0" anchor="t">
            <a:spAutoFit/>
          </a:bodyPr>
          <a:lstStyle/>
          <a:p>
            <a:pPr algn="r">
              <a:lnSpc>
                <a:spcPct val="120000"/>
              </a:lnSpc>
            </a:pPr>
            <a:r>
              <a:rPr sz="1000" b="0">
                <a:solidFill>
                  <a:srgbClr val="9AABB8"/>
                </a:solidFill>
                <a:latin typeface="Calibri"/>
              </a:rPr>
              <a:t>42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5732</Words>
  <Application>WPS Presentation</Application>
  <PresentationFormat>On-screen Show (16:9)</PresentationFormat>
  <Paragraphs>317</Paragraphs>
  <Slides>18</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Abdullah Bukhari</cp:lastModifiedBy>
  <cp:revision>2</cp:revision>
  <dcterms:created xsi:type="dcterms:W3CDTF">2026-08-21T12:34:00Z</dcterms:created>
  <dcterms:modified xsi:type="dcterms:W3CDTF">2026-08-21T13:34:27Z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033194C3DF1A43A5BBA9ACE43048D095_12</vt:lpwstr>
  </property>
</Properties>
</file>